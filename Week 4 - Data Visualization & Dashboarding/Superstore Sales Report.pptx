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1143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CCF0"/>
    <a:srgbClr val="D6AAE6"/>
    <a:srgbClr val="FCF6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70605"/>
            <a:ext cx="10363200" cy="3979333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003397"/>
            <a:ext cx="9144000" cy="275960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BC47A-90E0-4E28-B191-DFDD1854FED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0586-989C-4DAB-B2A5-C062E0BF2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312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BC47A-90E0-4E28-B191-DFDD1854FED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0586-989C-4DAB-B2A5-C062E0BF2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541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849566"/>
            <a:ext cx="10515600" cy="4754562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7649107"/>
            <a:ext cx="10515600" cy="2500312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BC47A-90E0-4E28-B191-DFDD1854FED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0586-989C-4DAB-B2A5-C062E0BF2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12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042708"/>
            <a:ext cx="5181600" cy="7252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042708"/>
            <a:ext cx="5181600" cy="7252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BC47A-90E0-4E28-B191-DFDD1854FED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0586-989C-4DAB-B2A5-C062E0BF2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349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8544"/>
            <a:ext cx="10515600" cy="22092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801938"/>
            <a:ext cx="5157787" cy="137318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175125"/>
            <a:ext cx="5157787" cy="6140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801938"/>
            <a:ext cx="5183188" cy="137318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175125"/>
            <a:ext cx="5183188" cy="6140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BC47A-90E0-4E28-B191-DFDD1854FED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0586-989C-4DAB-B2A5-C062E0BF2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74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BC47A-90E0-4E28-B191-DFDD1854FED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0586-989C-4DAB-B2A5-C062E0BF2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17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BC47A-90E0-4E28-B191-DFDD1854FED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0586-989C-4DAB-B2A5-C062E0BF2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22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62000"/>
            <a:ext cx="3932237" cy="26670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45711"/>
            <a:ext cx="6172200" cy="8122708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635264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BC47A-90E0-4E28-B191-DFDD1854FED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0586-989C-4DAB-B2A5-C062E0BF2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831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62000"/>
            <a:ext cx="3932237" cy="26670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645711"/>
            <a:ext cx="6172200" cy="8122708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635264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BC47A-90E0-4E28-B191-DFDD1854FED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0586-989C-4DAB-B2A5-C062E0BF2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103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BC47A-90E0-4E28-B191-DFDD1854FED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0586-989C-4DAB-B2A5-C062E0BF2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498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08542"/>
            <a:ext cx="2628900" cy="96863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608542"/>
            <a:ext cx="7734300" cy="96863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BC47A-90E0-4E28-B191-DFDD1854FED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0586-989C-4DAB-B2A5-C062E0BF2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96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08544"/>
            <a:ext cx="10515600" cy="2209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042708"/>
            <a:ext cx="10515600" cy="7252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0593919"/>
            <a:ext cx="274320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47A-90E0-4E28-B191-DFDD1854FED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0593919"/>
            <a:ext cx="411480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0593919"/>
            <a:ext cx="274320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7E0586-989C-4DAB-B2A5-C062E0BF2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557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bg1"/>
            </a:gs>
            <a:gs pos="67000">
              <a:srgbClr val="E7CCF0"/>
            </a:gs>
            <a:gs pos="87000">
              <a:srgbClr val="D6AAE6"/>
            </a:gs>
            <a:gs pos="100000">
              <a:srgbClr val="D6AA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4D32E-F747-EE5F-7D44-9C5ECB193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6034" y="1927464"/>
            <a:ext cx="8833282" cy="2483450"/>
          </a:xfrm>
        </p:spPr>
        <p:txBody>
          <a:bodyPr>
            <a:normAutofit/>
          </a:bodyPr>
          <a:lstStyle/>
          <a:p>
            <a:r>
              <a:rPr lang="en-US" sz="7200" b="1" dirty="0">
                <a:latin typeface="Book Antiqua" panose="02040602050305030304" pitchFamily="18" charset="0"/>
              </a:rPr>
              <a:t>SUPERSTORE SALES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3C6AA-55BF-2289-99B2-F8E97B3AE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2710" y="6103904"/>
            <a:ext cx="9099931" cy="1597742"/>
          </a:xfrm>
          <a:ln>
            <a:noFill/>
          </a:ln>
        </p:spPr>
        <p:txBody>
          <a:bodyPr>
            <a:normAutofit fontScale="70000" lnSpcReduction="20000"/>
          </a:bodyPr>
          <a:lstStyle/>
          <a:p>
            <a:pPr algn="l"/>
            <a:endParaRPr lang="en-US" b="1" i="1" dirty="0">
              <a:latin typeface="Book Antiqua" panose="02040602050305030304" pitchFamily="18" charset="0"/>
            </a:endParaRPr>
          </a:p>
          <a:p>
            <a:pPr algn="l"/>
            <a:r>
              <a:rPr lang="en-US" b="1" i="1" dirty="0">
                <a:latin typeface="Book Antiqua" panose="02040602050305030304" pitchFamily="18" charset="0"/>
              </a:rPr>
              <a:t>PREPARED BY:</a:t>
            </a:r>
          </a:p>
          <a:p>
            <a:pPr algn="l"/>
            <a:r>
              <a:rPr lang="en-US" b="1" i="1" dirty="0">
                <a:latin typeface="Book Antiqua" panose="02040602050305030304" pitchFamily="18" charset="0"/>
              </a:rPr>
              <a:t>BENEDICTA IZEGBUE</a:t>
            </a:r>
          </a:p>
          <a:p>
            <a:pPr algn="l"/>
            <a:r>
              <a:rPr lang="en-US" b="1" i="1" dirty="0">
                <a:latin typeface="Book Antiqua" panose="02040602050305030304" pitchFamily="18" charset="0"/>
              </a:rPr>
              <a:t>SALES ANALYST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C0C37B-4C08-A91B-9145-8D7D0A84B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641" y="9960165"/>
            <a:ext cx="1372495" cy="133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143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bg1"/>
            </a:gs>
            <a:gs pos="67000">
              <a:srgbClr val="E7CCF0"/>
            </a:gs>
            <a:gs pos="87000">
              <a:srgbClr val="D6AAE6"/>
            </a:gs>
            <a:gs pos="100000">
              <a:srgbClr val="D6AA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F6F68-819D-B061-4E18-B19E46103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u="sng" dirty="0">
                <a:latin typeface="Book Antiqua" panose="02040602050305030304" pitchFamily="18" charset="0"/>
              </a:rPr>
              <a:t>PROJECT</a:t>
            </a:r>
            <a:r>
              <a:rPr lang="en-US" sz="6000" u="sng" dirty="0">
                <a:latin typeface="Book Antiqua" panose="02040602050305030304" pitchFamily="18" charset="0"/>
              </a:rPr>
              <a:t>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298B9-D3E5-8672-C0EF-5225AA0D426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3432138"/>
            <a:ext cx="10609243" cy="2209272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dirty="0">
                <a:latin typeface="Book Antiqua" panose="02040602050305030304" pitchFamily="18" charset="0"/>
              </a:rPr>
              <a:t>Transform raw Superstore sales data into an interactive dashboard that provides actionable business insights through KPI reporting, trend analysis, and data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1593257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bg1"/>
            </a:gs>
            <a:gs pos="67000">
              <a:srgbClr val="E7CCF0"/>
            </a:gs>
            <a:gs pos="87000">
              <a:srgbClr val="D6AAE6"/>
            </a:gs>
            <a:gs pos="100000">
              <a:srgbClr val="D6AA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575F959-E1B5-75F8-F390-D84DB7C4F2DE}"/>
              </a:ext>
            </a:extLst>
          </p:cNvPr>
          <p:cNvSpPr txBox="1"/>
          <p:nvPr/>
        </p:nvSpPr>
        <p:spPr>
          <a:xfrm>
            <a:off x="1574917" y="341832"/>
            <a:ext cx="9042167" cy="588751"/>
          </a:xfrm>
          <a:custGeom>
            <a:avLst/>
            <a:gdLst>
              <a:gd name="csX0" fmla="*/ 0 w 9042167"/>
              <a:gd name="csY0" fmla="*/ 0 h 588751"/>
              <a:gd name="csX1" fmla="*/ 9042167 w 9042167"/>
              <a:gd name="csY1" fmla="*/ 0 h 588751"/>
              <a:gd name="csX2" fmla="*/ 9042167 w 9042167"/>
              <a:gd name="csY2" fmla="*/ 588751 h 588751"/>
              <a:gd name="csX3" fmla="*/ 0 w 9042167"/>
              <a:gd name="csY3" fmla="*/ 588751 h 588751"/>
              <a:gd name="csX4" fmla="*/ 0 w 9042167"/>
              <a:gd name="csY4" fmla="*/ 0 h 588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42167" h="588751" extrusionOk="0">
                <a:moveTo>
                  <a:pt x="0" y="0"/>
                </a:moveTo>
                <a:cubicBezTo>
                  <a:pt x="4322655" y="118645"/>
                  <a:pt x="7708208" y="116012"/>
                  <a:pt x="9042167" y="0"/>
                </a:cubicBezTo>
                <a:cubicBezTo>
                  <a:pt x="9023508" y="114529"/>
                  <a:pt x="9081492" y="458391"/>
                  <a:pt x="9042167" y="588751"/>
                </a:cubicBezTo>
                <a:cubicBezTo>
                  <a:pt x="7372864" y="723351"/>
                  <a:pt x="2182659" y="431555"/>
                  <a:pt x="0" y="588751"/>
                </a:cubicBezTo>
                <a:cubicBezTo>
                  <a:pt x="39307" y="463409"/>
                  <a:pt x="41723" y="177491"/>
                  <a:pt x="0" y="0"/>
                </a:cubicBezTo>
                <a:close/>
              </a:path>
            </a:pathLst>
          </a:custGeom>
          <a:noFill/>
          <a:ln w="31750" cap="sq">
            <a:solidFill>
              <a:srgbClr val="7030A0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26" b="1" dirty="0">
                <a:latin typeface="Book Antiqua" panose="02040602050305030304" pitchFamily="18" charset="0"/>
              </a:rPr>
              <a:t>DATASET OVERVIEW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23FFE2-2E6F-229C-51A0-5E44FEC7EB4A}"/>
              </a:ext>
            </a:extLst>
          </p:cNvPr>
          <p:cNvSpPr txBox="1"/>
          <p:nvPr/>
        </p:nvSpPr>
        <p:spPr>
          <a:xfrm>
            <a:off x="708616" y="1561954"/>
            <a:ext cx="10506828" cy="9674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13" b="1" u="sng" dirty="0">
                <a:latin typeface="Book Antiqua" panose="02040602050305030304" pitchFamily="18" charset="0"/>
              </a:rPr>
              <a:t>Dataset Name</a:t>
            </a:r>
            <a:r>
              <a:rPr lang="en-US" sz="1452" b="1" u="sng" dirty="0">
                <a:latin typeface="Book Antiqua" panose="02040602050305030304" pitchFamily="18" charset="0"/>
              </a:rPr>
              <a:t>: </a:t>
            </a:r>
            <a:r>
              <a:rPr lang="en-US" sz="1600" dirty="0">
                <a:latin typeface="Book Antiqua" panose="02040602050305030304" pitchFamily="18" charset="0"/>
              </a:rPr>
              <a:t>Superstore Sales Dataset</a:t>
            </a:r>
          </a:p>
          <a:p>
            <a:endParaRPr lang="en-US" sz="1600" b="1" dirty="0">
              <a:latin typeface="Book Antiqua" panose="02040602050305030304" pitchFamily="18" charset="0"/>
            </a:endParaRPr>
          </a:p>
          <a:p>
            <a:r>
              <a:rPr lang="en-US" sz="1600" b="1" u="sng" dirty="0">
                <a:latin typeface="Book Antiqua" panose="02040602050305030304" pitchFamily="18" charset="0"/>
              </a:rPr>
              <a:t>Dataset Size</a:t>
            </a:r>
            <a:r>
              <a:rPr lang="en-US" sz="1600" b="1" dirty="0">
                <a:latin typeface="Book Antiqua" panose="02040602050305030304" pitchFamily="18" charset="0"/>
              </a:rPr>
              <a:t>: </a:t>
            </a:r>
            <a:r>
              <a:rPr lang="en-US" sz="1600" dirty="0">
                <a:latin typeface="Book Antiqua" panose="02040602050305030304" pitchFamily="18" charset="0"/>
              </a:rPr>
              <a:t>9,995 Rows  and 21 Columns </a:t>
            </a:r>
          </a:p>
          <a:p>
            <a:endParaRPr lang="en-US" sz="1600" b="1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u="sng" dirty="0">
                <a:latin typeface="Book Antiqua" panose="02040602050305030304" pitchFamily="18" charset="0"/>
              </a:rPr>
              <a:t>Key Data Fields:</a:t>
            </a:r>
            <a:endParaRPr lang="en-US" sz="1600" u="sng" dirty="0">
              <a:latin typeface="Book Antiqua" panose="02040602050305030304" pitchFamily="18" charset="0"/>
            </a:endParaRP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sz="1600" dirty="0">
                <a:latin typeface="Book Antiqua" panose="02040602050305030304" pitchFamily="18" charset="0"/>
              </a:rPr>
              <a:t>Order Date 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sz="1600" dirty="0">
                <a:latin typeface="Book Antiqua" panose="02040602050305030304" pitchFamily="18" charset="0"/>
              </a:rPr>
              <a:t>Ship Date 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sz="1600" dirty="0">
                <a:latin typeface="Book Antiqua" panose="02040602050305030304" pitchFamily="18" charset="0"/>
              </a:rPr>
              <a:t>Customer Name 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sz="1600" dirty="0">
                <a:latin typeface="Book Antiqua" panose="02040602050305030304" pitchFamily="18" charset="0"/>
              </a:rPr>
              <a:t>Region 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sz="1600" dirty="0">
                <a:latin typeface="Book Antiqua" panose="02040602050305030304" pitchFamily="18" charset="0"/>
              </a:rPr>
              <a:t>Category 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sz="1600" dirty="0">
                <a:latin typeface="Book Antiqua" panose="02040602050305030304" pitchFamily="18" charset="0"/>
              </a:rPr>
              <a:t>Sub-Category 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sz="1600" dirty="0">
                <a:latin typeface="Book Antiqua" panose="02040602050305030304" pitchFamily="18" charset="0"/>
              </a:rPr>
              <a:t>Sales 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sz="1600" dirty="0">
                <a:latin typeface="Book Antiqua" panose="02040602050305030304" pitchFamily="18" charset="0"/>
              </a:rPr>
              <a:t>Quantity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sz="1600" dirty="0">
                <a:latin typeface="Book Antiqua" panose="02040602050305030304" pitchFamily="18" charset="0"/>
              </a:rPr>
              <a:t>Discount 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sz="1600" dirty="0">
                <a:latin typeface="Book Antiqua" panose="02040602050305030304" pitchFamily="18" charset="0"/>
              </a:rPr>
              <a:t>Profit </a:t>
            </a:r>
          </a:p>
          <a:p>
            <a:endParaRPr lang="en-US" sz="1600" b="1" dirty="0">
              <a:latin typeface="Book Antiqua" panose="02040602050305030304" pitchFamily="18" charset="0"/>
            </a:endParaRPr>
          </a:p>
          <a:p>
            <a:r>
              <a:rPr lang="en-US" sz="1600" b="1" u="sng" dirty="0">
                <a:latin typeface="Book Antiqua" panose="02040602050305030304" pitchFamily="18" charset="0"/>
              </a:rPr>
              <a:t>Data Preparation Performed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sz="1600" dirty="0">
                <a:latin typeface="Book Antiqua" panose="02040602050305030304" pitchFamily="18" charset="0"/>
              </a:rPr>
              <a:t>Cleaned column names 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sz="1600" dirty="0">
                <a:latin typeface="Book Antiqua" panose="02040602050305030304" pitchFamily="18" charset="0"/>
              </a:rPr>
              <a:t>Checked missing values 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sz="1600" dirty="0">
                <a:latin typeface="Book Antiqua" panose="02040602050305030304" pitchFamily="18" charset="0"/>
              </a:rPr>
              <a:t>Verified data types 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sz="1600" dirty="0">
                <a:latin typeface="Book Antiqua" panose="02040602050305030304" pitchFamily="18" charset="0"/>
              </a:rPr>
              <a:t>Formatted date columns 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sz="1600" dirty="0">
                <a:latin typeface="Book Antiqua" panose="02040602050305030304" pitchFamily="18" charset="0"/>
              </a:rPr>
              <a:t>Validated numeric measures 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sz="1600" dirty="0">
                <a:latin typeface="Book Antiqua" panose="02040602050305030304" pitchFamily="18" charset="0"/>
              </a:rPr>
              <a:t>Created Date Table for time intelligence </a:t>
            </a:r>
          </a:p>
          <a:p>
            <a:pPr marL="285750" indent="-285750"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endParaRPr lang="en-US" sz="1600" b="1" dirty="0">
              <a:latin typeface="Book Antiqua" panose="02040602050305030304" pitchFamily="18" charset="0"/>
            </a:endParaRPr>
          </a:p>
          <a:p>
            <a:r>
              <a:rPr lang="en-US" sz="1600" b="1" u="sng" dirty="0">
                <a:latin typeface="Book Antiqua" panose="02040602050305030304" pitchFamily="18" charset="0"/>
              </a:rPr>
              <a:t>Tools Used</a:t>
            </a:r>
            <a:endParaRPr lang="en-US" sz="1600" u="sng" dirty="0">
              <a:latin typeface="Book Antiqua" panose="02040602050305030304" pitchFamily="18" charset="0"/>
            </a:endParaRPr>
          </a:p>
          <a:p>
            <a:pPr marL="285750" indent="-285750">
              <a:lnSpc>
                <a:spcPct val="150000"/>
              </a:lnSpc>
              <a:buClr>
                <a:srgbClr val="461E64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sz="1600" dirty="0">
                <a:latin typeface="Book Antiqua" panose="02040602050305030304" pitchFamily="18" charset="0"/>
              </a:rPr>
              <a:t>Microsoft Power BI </a:t>
            </a:r>
          </a:p>
          <a:p>
            <a:pPr marL="285750" indent="-285750">
              <a:lnSpc>
                <a:spcPct val="150000"/>
              </a:lnSpc>
              <a:buClr>
                <a:srgbClr val="461E64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sz="1600" dirty="0">
                <a:latin typeface="Book Antiqua" panose="02040602050305030304" pitchFamily="18" charset="0"/>
              </a:rPr>
              <a:t>Power Query Editor </a:t>
            </a:r>
          </a:p>
          <a:p>
            <a:pPr marL="285750" indent="-285750">
              <a:lnSpc>
                <a:spcPct val="150000"/>
              </a:lnSpc>
              <a:buClr>
                <a:srgbClr val="461E64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sz="1600" dirty="0">
                <a:latin typeface="Book Antiqua" panose="02040602050305030304" pitchFamily="18" charset="0"/>
              </a:rPr>
              <a:t>DAX (Data Analysis Expressions) </a:t>
            </a:r>
          </a:p>
          <a:p>
            <a:endParaRPr lang="en-US" sz="1452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571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bg1"/>
            </a:gs>
            <a:gs pos="67000">
              <a:srgbClr val="E7CCF0"/>
            </a:gs>
            <a:gs pos="87000">
              <a:srgbClr val="D6AAE6"/>
            </a:gs>
            <a:gs pos="100000">
              <a:srgbClr val="D6AA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47BE2-57D5-E202-3485-23C4EF1D6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72" y="308472"/>
            <a:ext cx="11707256" cy="1013552"/>
          </a:xfrm>
          <a:custGeom>
            <a:avLst/>
            <a:gdLst>
              <a:gd name="csX0" fmla="*/ 0 w 11707256"/>
              <a:gd name="csY0" fmla="*/ 0 h 1013552"/>
              <a:gd name="csX1" fmla="*/ 11707256 w 11707256"/>
              <a:gd name="csY1" fmla="*/ 0 h 1013552"/>
              <a:gd name="csX2" fmla="*/ 11707256 w 11707256"/>
              <a:gd name="csY2" fmla="*/ 1013552 h 1013552"/>
              <a:gd name="csX3" fmla="*/ 0 w 11707256"/>
              <a:gd name="csY3" fmla="*/ 1013552 h 1013552"/>
              <a:gd name="csX4" fmla="*/ 0 w 11707256"/>
              <a:gd name="csY4" fmla="*/ 0 h 10135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07256" h="1013552" fill="none" extrusionOk="0">
                <a:moveTo>
                  <a:pt x="0" y="0"/>
                </a:moveTo>
                <a:cubicBezTo>
                  <a:pt x="5547298" y="-49533"/>
                  <a:pt x="5881012" y="-14809"/>
                  <a:pt x="11707256" y="0"/>
                </a:cubicBezTo>
                <a:cubicBezTo>
                  <a:pt x="11785380" y="370382"/>
                  <a:pt x="11669035" y="522042"/>
                  <a:pt x="11707256" y="1013552"/>
                </a:cubicBezTo>
                <a:cubicBezTo>
                  <a:pt x="9317518" y="965321"/>
                  <a:pt x="1246364" y="1098007"/>
                  <a:pt x="0" y="1013552"/>
                </a:cubicBezTo>
                <a:cubicBezTo>
                  <a:pt x="38108" y="600238"/>
                  <a:pt x="-21686" y="156044"/>
                  <a:pt x="0" y="0"/>
                </a:cubicBezTo>
                <a:close/>
              </a:path>
              <a:path w="11707256" h="1013552" stroke="0" extrusionOk="0">
                <a:moveTo>
                  <a:pt x="0" y="0"/>
                </a:moveTo>
                <a:cubicBezTo>
                  <a:pt x="4359567" y="118645"/>
                  <a:pt x="9608244" y="116012"/>
                  <a:pt x="11707256" y="0"/>
                </a:cubicBezTo>
                <a:cubicBezTo>
                  <a:pt x="11782295" y="110262"/>
                  <a:pt x="11627553" y="565208"/>
                  <a:pt x="11707256" y="1013552"/>
                </a:cubicBezTo>
                <a:cubicBezTo>
                  <a:pt x="5893215" y="1148152"/>
                  <a:pt x="1315269" y="856356"/>
                  <a:pt x="0" y="1013552"/>
                </a:cubicBezTo>
                <a:cubicBezTo>
                  <a:pt x="17110" y="827790"/>
                  <a:pt x="-9237" y="255492"/>
                  <a:pt x="0" y="0"/>
                </a:cubicBezTo>
                <a:close/>
              </a:path>
            </a:pathLst>
          </a:custGeom>
          <a:ln w="28575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Curved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pPr algn="ctr"/>
            <a:r>
              <a:rPr lang="en-US" sz="3230" b="1" dirty="0">
                <a:latin typeface="Book Antiqua" panose="02040602050305030304" pitchFamily="18" charset="0"/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B4F01-9184-D1A0-1D46-5C8983D97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169" y="1575413"/>
            <a:ext cx="5909631" cy="5761822"/>
          </a:xfrm>
          <a:ln w="28575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Curve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buNone/>
            </a:pPr>
            <a:endParaRPr lang="en-US" sz="3230" b="1" dirty="0">
              <a:latin typeface="Book Antiqua" panose="02040602050305030304" pitchFamily="18" charset="0"/>
              <a:ea typeface="+mj-ea"/>
              <a:cs typeface="+mj-cs"/>
            </a:endParaRPr>
          </a:p>
          <a:p>
            <a:pPr algn="ctr">
              <a:lnSpc>
                <a:spcPct val="110000"/>
              </a:lnSpc>
              <a:spcBef>
                <a:spcPct val="0"/>
              </a:spcBef>
              <a:buNone/>
            </a:pPr>
            <a:r>
              <a:rPr lang="en-US" sz="2800" b="1" u="sng" dirty="0">
                <a:latin typeface="Book Antiqua" panose="02040602050305030304" pitchFamily="18" charset="0"/>
                <a:ea typeface="+mj-ea"/>
                <a:cs typeface="+mj-cs"/>
              </a:rPr>
              <a:t>BUSINESS PROBLEM STATEMENT</a:t>
            </a:r>
          </a:p>
          <a:p>
            <a:pPr algn="ctr">
              <a:spcBef>
                <a:spcPct val="0"/>
              </a:spcBef>
              <a:buNone/>
            </a:pPr>
            <a:endParaRPr lang="en-US" sz="3230" b="1" dirty="0">
              <a:latin typeface="Book Antiqua" panose="02040602050305030304" pitchFamily="18" charset="0"/>
              <a:ea typeface="+mj-ea"/>
              <a:cs typeface="+mj-cs"/>
            </a:endParaRPr>
          </a:p>
          <a:p>
            <a:pPr>
              <a:spcBef>
                <a:spcPct val="0"/>
              </a:spcBef>
              <a:buNone/>
            </a:pPr>
            <a:r>
              <a:rPr lang="en-US" sz="2400" dirty="0">
                <a:latin typeface="Book Antiqua" panose="02040602050305030304" pitchFamily="18" charset="0"/>
                <a:ea typeface="+mj-ea"/>
                <a:cs typeface="+mj-cs"/>
              </a:rPr>
              <a:t>The business needed a way to:</a:t>
            </a:r>
          </a:p>
          <a:p>
            <a:pPr marL="457200" indent="-457200">
              <a:lnSpc>
                <a:spcPct val="16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dirty="0">
                <a:latin typeface="Book Antiqua" panose="02040602050305030304" pitchFamily="18" charset="0"/>
                <a:ea typeface="+mj-ea"/>
                <a:cs typeface="+mj-cs"/>
              </a:rPr>
              <a:t>Monitor sales and profit performance. </a:t>
            </a:r>
          </a:p>
          <a:p>
            <a:pPr marL="457200" indent="-457200">
              <a:lnSpc>
                <a:spcPct val="16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dirty="0">
                <a:latin typeface="Book Antiqua" panose="02040602050305030304" pitchFamily="18" charset="0"/>
                <a:ea typeface="+mj-ea"/>
                <a:cs typeface="+mj-cs"/>
              </a:rPr>
              <a:t>Identify underperforming products.</a:t>
            </a:r>
          </a:p>
          <a:p>
            <a:pPr marL="457200" indent="-457200">
              <a:lnSpc>
                <a:spcPct val="16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dirty="0">
                <a:latin typeface="Book Antiqua" panose="02040602050305030304" pitchFamily="18" charset="0"/>
                <a:ea typeface="+mj-ea"/>
                <a:cs typeface="+mj-cs"/>
              </a:rPr>
              <a:t>Analyze regional sales trends.</a:t>
            </a:r>
          </a:p>
          <a:p>
            <a:pPr marL="457200" indent="-457200">
              <a:lnSpc>
                <a:spcPct val="16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dirty="0">
                <a:latin typeface="Book Antiqua" panose="02040602050305030304" pitchFamily="18" charset="0"/>
                <a:ea typeface="+mj-ea"/>
                <a:cs typeface="+mj-cs"/>
              </a:rPr>
              <a:t>Understand the impact of discounts on profitability.</a:t>
            </a:r>
          </a:p>
          <a:p>
            <a:pPr marL="457200" indent="-457200">
              <a:lnSpc>
                <a:spcPct val="16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dirty="0">
                <a:latin typeface="Book Antiqua" panose="02040602050305030304" pitchFamily="18" charset="0"/>
                <a:ea typeface="+mj-ea"/>
                <a:cs typeface="+mj-cs"/>
              </a:rPr>
              <a:t>Track business growth over time. </a:t>
            </a:r>
          </a:p>
          <a:p>
            <a:pPr algn="ctr">
              <a:spcBef>
                <a:spcPct val="0"/>
              </a:spcBef>
              <a:buNone/>
            </a:pPr>
            <a:endParaRPr lang="en-US" sz="3230" b="1" dirty="0">
              <a:latin typeface="Book Antiqua" panose="02040602050305030304" pitchFamily="18" charset="0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D1D319-BFA7-2235-4DA7-639B67D04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75412"/>
            <a:ext cx="5777428" cy="5761823"/>
          </a:xfrm>
          <a:ln w="28575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Curve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buNone/>
            </a:pPr>
            <a:endParaRPr lang="en-US" sz="3230" b="1" dirty="0">
              <a:latin typeface="Book Antiqua" panose="02040602050305030304" pitchFamily="18" charset="0"/>
              <a:ea typeface="+mj-ea"/>
              <a:cs typeface="+mj-cs"/>
            </a:endParaRPr>
          </a:p>
          <a:p>
            <a:pPr algn="ctr">
              <a:spcBef>
                <a:spcPct val="0"/>
              </a:spcBef>
              <a:buNone/>
            </a:pPr>
            <a:r>
              <a:rPr lang="en-US" sz="2800" b="1" u="sng" dirty="0">
                <a:latin typeface="Book Antiqua" panose="02040602050305030304" pitchFamily="18" charset="0"/>
                <a:ea typeface="+mj-ea"/>
                <a:cs typeface="+mj-cs"/>
              </a:rPr>
              <a:t>KEY QUESTIONS </a:t>
            </a:r>
          </a:p>
          <a:p>
            <a:pPr algn="ctr">
              <a:spcBef>
                <a:spcPct val="0"/>
              </a:spcBef>
              <a:buNone/>
            </a:pPr>
            <a:r>
              <a:rPr lang="en-US" sz="2800" b="1" u="sng" dirty="0">
                <a:latin typeface="Book Antiqua" panose="02040602050305030304" pitchFamily="18" charset="0"/>
                <a:ea typeface="+mj-ea"/>
                <a:cs typeface="+mj-cs"/>
              </a:rPr>
              <a:t>ADDRESSED</a:t>
            </a:r>
          </a:p>
          <a:p>
            <a:pPr algn="ctr">
              <a:spcBef>
                <a:spcPct val="0"/>
              </a:spcBef>
              <a:buNone/>
            </a:pPr>
            <a:endParaRPr lang="en-US" sz="2000" b="1" dirty="0">
              <a:latin typeface="Book Antiqua" panose="02040602050305030304" pitchFamily="18" charset="0"/>
              <a:ea typeface="+mj-ea"/>
              <a:cs typeface="+mj-cs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dirty="0">
                <a:latin typeface="Book Antiqua" panose="02040602050305030304" pitchFamily="18" charset="0"/>
                <a:ea typeface="+mj-ea"/>
                <a:cs typeface="+mj-cs"/>
              </a:rPr>
              <a:t>Which region generates the most profit? 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dirty="0">
                <a:latin typeface="Book Antiqua" panose="02040602050305030304" pitchFamily="18" charset="0"/>
                <a:ea typeface="+mj-ea"/>
                <a:cs typeface="+mj-cs"/>
              </a:rPr>
              <a:t>Which category performs best? 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dirty="0">
                <a:latin typeface="Book Antiqua" panose="02040602050305030304" pitchFamily="18" charset="0"/>
                <a:ea typeface="+mj-ea"/>
                <a:cs typeface="+mj-cs"/>
              </a:rPr>
              <a:t>Which products are underperforming? 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dirty="0">
                <a:latin typeface="Book Antiqua" panose="02040602050305030304" pitchFamily="18" charset="0"/>
                <a:ea typeface="+mj-ea"/>
                <a:cs typeface="+mj-cs"/>
              </a:rPr>
              <a:t>How do discounts affect profit? 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dirty="0">
                <a:latin typeface="Book Antiqua" panose="02040602050305030304" pitchFamily="18" charset="0"/>
                <a:ea typeface="+mj-ea"/>
                <a:cs typeface="+mj-cs"/>
              </a:rPr>
              <a:t>What are the yearly sales trends? </a:t>
            </a:r>
          </a:p>
          <a:p>
            <a:pPr algn="ctr">
              <a:spcBef>
                <a:spcPct val="0"/>
              </a:spcBef>
              <a:buNone/>
            </a:pPr>
            <a:endParaRPr lang="en-US" sz="3230" b="1" dirty="0">
              <a:latin typeface="Book Antiqua" panose="02040602050305030304" pitchFamily="18" charset="0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83922B-8C00-0BFB-1BD0-D96D094A40F9}"/>
              </a:ext>
            </a:extLst>
          </p:cNvPr>
          <p:cNvSpPr txBox="1"/>
          <p:nvPr/>
        </p:nvSpPr>
        <p:spPr>
          <a:xfrm>
            <a:off x="242372" y="8449937"/>
            <a:ext cx="11707256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u="sng" dirty="0">
                <a:latin typeface="Book Antiqua" panose="02040602050305030304" pitchFamily="18" charset="0"/>
              </a:rPr>
              <a:t>GOAL:</a:t>
            </a:r>
          </a:p>
          <a:p>
            <a:endParaRPr lang="en-US" sz="1050" i="1" dirty="0">
              <a:latin typeface="Book Antiqua" panose="02040602050305030304" pitchFamily="18" charset="0"/>
            </a:endParaRPr>
          </a:p>
          <a:p>
            <a:r>
              <a:rPr lang="en-US" sz="2800" i="1" dirty="0">
                <a:latin typeface="Book Antiqua" panose="02040602050305030304" pitchFamily="18" charset="0"/>
              </a:rPr>
              <a:t>Create an interactive dashboard that supports data-driven decision-making for business stakeholders</a:t>
            </a:r>
            <a:r>
              <a:rPr lang="en-US" i="1" dirty="0">
                <a:latin typeface="Book Antiqua" panose="0204060205030503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416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bg1"/>
            </a:gs>
            <a:gs pos="67000">
              <a:srgbClr val="E7CCF0"/>
            </a:gs>
            <a:gs pos="87000">
              <a:srgbClr val="D6AAE6"/>
            </a:gs>
            <a:gs pos="100000">
              <a:srgbClr val="D6AA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78E337-BE4E-B58C-0E34-AE72D4170A63}"/>
              </a:ext>
            </a:extLst>
          </p:cNvPr>
          <p:cNvSpPr txBox="1"/>
          <p:nvPr/>
        </p:nvSpPr>
        <p:spPr>
          <a:xfrm>
            <a:off x="1749845" y="264406"/>
            <a:ext cx="8516039" cy="584775"/>
          </a:xfrm>
          <a:custGeom>
            <a:avLst/>
            <a:gdLst>
              <a:gd name="csX0" fmla="*/ 0 w 8516039"/>
              <a:gd name="csY0" fmla="*/ 0 h 584775"/>
              <a:gd name="csX1" fmla="*/ 8516039 w 8516039"/>
              <a:gd name="csY1" fmla="*/ 0 h 584775"/>
              <a:gd name="csX2" fmla="*/ 8516039 w 8516039"/>
              <a:gd name="csY2" fmla="*/ 584775 h 584775"/>
              <a:gd name="csX3" fmla="*/ 0 w 8516039"/>
              <a:gd name="csY3" fmla="*/ 584775 h 584775"/>
              <a:gd name="csX4" fmla="*/ 0 w 8516039"/>
              <a:gd name="csY4" fmla="*/ 0 h 58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516039" h="584775" extrusionOk="0">
                <a:moveTo>
                  <a:pt x="0" y="0"/>
                </a:moveTo>
                <a:cubicBezTo>
                  <a:pt x="1391851" y="118645"/>
                  <a:pt x="4742402" y="116012"/>
                  <a:pt x="8516039" y="0"/>
                </a:cubicBezTo>
                <a:cubicBezTo>
                  <a:pt x="8531841" y="112674"/>
                  <a:pt x="8507896" y="317807"/>
                  <a:pt x="8516039" y="584775"/>
                </a:cubicBezTo>
                <a:cubicBezTo>
                  <a:pt x="6416395" y="719375"/>
                  <a:pt x="2088532" y="427579"/>
                  <a:pt x="0" y="584775"/>
                </a:cubicBezTo>
                <a:cubicBezTo>
                  <a:pt x="5974" y="355104"/>
                  <a:pt x="-8038" y="181367"/>
                  <a:pt x="0" y="0"/>
                </a:cubicBezTo>
                <a:close/>
              </a:path>
            </a:pathLst>
          </a:custGeom>
          <a:noFill/>
          <a:ln w="28575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30" b="1" dirty="0">
                <a:latin typeface="Book Antiqua" panose="02040602050305030304" pitchFamily="18" charset="0"/>
              </a:rPr>
              <a:t>KEY PERFORMANCE INDICATORS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BD8E39-EB27-1A4D-E635-1FD01CE7DB3A}"/>
              </a:ext>
            </a:extLst>
          </p:cNvPr>
          <p:cNvSpPr txBox="1"/>
          <p:nvPr/>
        </p:nvSpPr>
        <p:spPr>
          <a:xfrm>
            <a:off x="341523" y="1423930"/>
            <a:ext cx="11633811" cy="95154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latin typeface="Book Antiqua" panose="02040602050305030304" pitchFamily="18" charset="0"/>
              </a:rPr>
              <a:t>DASHBORD KPIs</a:t>
            </a:r>
          </a:p>
          <a:p>
            <a:pPr algn="ctr"/>
            <a:endParaRPr lang="en-US" sz="2000" dirty="0">
              <a:latin typeface="Book Antiqua" panose="02040602050305030304" pitchFamily="18" charset="0"/>
            </a:endParaRP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b="1" dirty="0">
                <a:latin typeface="Book Antiqua" panose="02040602050305030304" pitchFamily="18" charset="0"/>
              </a:rPr>
              <a:t>Total Revenue:</a:t>
            </a:r>
            <a:r>
              <a:rPr lang="en-US" dirty="0">
                <a:latin typeface="Book Antiqua" panose="02040602050305030304" pitchFamily="18" charset="0"/>
              </a:rPr>
              <a:t> $2.3M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b="1" dirty="0">
                <a:latin typeface="Book Antiqua" panose="02040602050305030304" pitchFamily="18" charset="0"/>
              </a:rPr>
              <a:t>Total Profit:</a:t>
            </a:r>
            <a:r>
              <a:rPr lang="en-US" dirty="0">
                <a:latin typeface="Book Antiqua" panose="02040602050305030304" pitchFamily="18" charset="0"/>
              </a:rPr>
              <a:t> $286.4K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b="1" dirty="0">
                <a:latin typeface="Book Antiqua" panose="02040602050305030304" pitchFamily="18" charset="0"/>
              </a:rPr>
              <a:t>Total Orders:</a:t>
            </a:r>
            <a:r>
              <a:rPr lang="en-US" dirty="0">
                <a:latin typeface="Book Antiqua" panose="02040602050305030304" pitchFamily="18" charset="0"/>
              </a:rPr>
              <a:t> 5,009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b="1" dirty="0">
                <a:latin typeface="Book Antiqua" panose="02040602050305030304" pitchFamily="18" charset="0"/>
              </a:rPr>
              <a:t>Profit Margin:</a:t>
            </a:r>
            <a:r>
              <a:rPr lang="en-US" dirty="0">
                <a:latin typeface="Book Antiqua" panose="02040602050305030304" pitchFamily="18" charset="0"/>
              </a:rPr>
              <a:t> 12.47%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b="1" dirty="0">
                <a:latin typeface="Book Antiqua" panose="02040602050305030304" pitchFamily="18" charset="0"/>
              </a:rPr>
              <a:t>Sales Growth:</a:t>
            </a:r>
            <a:r>
              <a:rPr lang="en-US" dirty="0">
                <a:latin typeface="Book Antiqua" panose="02040602050305030304" pitchFamily="18" charset="0"/>
              </a:rPr>
              <a:t> 46.88%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b="1" dirty="0">
                <a:latin typeface="Book Antiqua" panose="02040602050305030304" pitchFamily="18" charset="0"/>
              </a:rPr>
              <a:t>Total Quantity Sold:</a:t>
            </a:r>
            <a:r>
              <a:rPr lang="en-US" dirty="0">
                <a:latin typeface="Book Antiqua" panose="02040602050305030304" pitchFamily="18" charset="0"/>
              </a:rPr>
              <a:t> 37.87K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b="1" dirty="0">
                <a:latin typeface="Book Antiqua" panose="02040602050305030304" pitchFamily="18" charset="0"/>
              </a:rPr>
              <a:t>Average Discount:</a:t>
            </a:r>
            <a:r>
              <a:rPr lang="en-US" dirty="0">
                <a:latin typeface="Book Antiqua" panose="02040602050305030304" pitchFamily="18" charset="0"/>
              </a:rPr>
              <a:t> 15.62% </a:t>
            </a:r>
          </a:p>
          <a:p>
            <a:endParaRPr lang="en-US" b="1" dirty="0">
              <a:latin typeface="Book Antiqua" panose="02040602050305030304" pitchFamily="18" charset="0"/>
            </a:endParaRPr>
          </a:p>
          <a:p>
            <a:pPr algn="ctr"/>
            <a:endParaRPr lang="en-US" sz="2000" b="1" dirty="0">
              <a:latin typeface="Book Antiqua" panose="02040602050305030304" pitchFamily="18" charset="0"/>
            </a:endParaRPr>
          </a:p>
          <a:p>
            <a:pPr algn="ctr"/>
            <a:r>
              <a:rPr lang="en-US" sz="2000" b="1" u="sng" dirty="0">
                <a:latin typeface="Book Antiqua" panose="02040602050305030304" pitchFamily="18" charset="0"/>
              </a:rPr>
              <a:t>DAX MEASURES USED</a:t>
            </a:r>
            <a:endParaRPr lang="en-US" sz="2000" u="sng" dirty="0">
              <a:latin typeface="Book Antiqua" panose="02040602050305030304" pitchFamily="18" charset="0"/>
            </a:endParaRP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SUM()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DISTINCTCOUNT()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AVERAGE()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DIVIDE()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DATEADD() </a:t>
            </a:r>
          </a:p>
          <a:p>
            <a:endParaRPr lang="en-US" b="1" dirty="0">
              <a:latin typeface="Book Antiqua" panose="02040602050305030304" pitchFamily="18" charset="0"/>
            </a:endParaRPr>
          </a:p>
          <a:p>
            <a:pPr algn="ctr"/>
            <a:endParaRPr lang="en-US" sz="2000" b="1" dirty="0">
              <a:latin typeface="Book Antiqua" panose="02040602050305030304" pitchFamily="18" charset="0"/>
            </a:endParaRPr>
          </a:p>
          <a:p>
            <a:pPr algn="ctr"/>
            <a:r>
              <a:rPr lang="en-US" sz="2000" b="1" u="sng" dirty="0">
                <a:latin typeface="Book Antiqua" panose="02040602050305030304" pitchFamily="18" charset="0"/>
              </a:rPr>
              <a:t>PURPOSE OF KPIs</a:t>
            </a:r>
            <a:endParaRPr lang="en-US" sz="2000" u="sng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anose="02040602050305030304" pitchFamily="18" charset="0"/>
              </a:rPr>
              <a:t>KPIs were used to: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Measure business performance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Track profitability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Monitor sales growth 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Evaluate operational efficiency </a:t>
            </a:r>
          </a:p>
        </p:txBody>
      </p:sp>
    </p:spTree>
    <p:extLst>
      <p:ext uri="{BB962C8B-B14F-4D97-AF65-F5344CB8AC3E}">
        <p14:creationId xmlns:p14="http://schemas.microsoft.com/office/powerpoint/2010/main" val="1968774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bg1"/>
            </a:gs>
            <a:gs pos="67000">
              <a:srgbClr val="E7CCF0"/>
            </a:gs>
            <a:gs pos="87000">
              <a:srgbClr val="D6AAE6"/>
            </a:gs>
            <a:gs pos="100000">
              <a:srgbClr val="D6AA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848A3BE-C20F-AB98-0FA8-F8C23DC11681}"/>
              </a:ext>
            </a:extLst>
          </p:cNvPr>
          <p:cNvSpPr/>
          <p:nvPr/>
        </p:nvSpPr>
        <p:spPr>
          <a:xfrm>
            <a:off x="0" y="1399141"/>
            <a:ext cx="12191999" cy="8857563"/>
          </a:xfrm>
          <a:prstGeom prst="rect">
            <a:avLst/>
          </a:prstGeom>
          <a:solidFill>
            <a:srgbClr val="E7CCF0">
              <a:alpha val="73000"/>
            </a:srgbClr>
          </a:solidFill>
          <a:effectLst>
            <a:glow rad="850900">
              <a:srgbClr val="7030A0">
                <a:alpha val="24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776761-DE1B-4AF5-3893-687743D18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0908"/>
            <a:ext cx="12191999" cy="81346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456204-880D-8631-4389-57A2E319529A}"/>
              </a:ext>
            </a:extLst>
          </p:cNvPr>
          <p:cNvSpPr txBox="1"/>
          <p:nvPr/>
        </p:nvSpPr>
        <p:spPr>
          <a:xfrm>
            <a:off x="3160004" y="209321"/>
            <a:ext cx="5871990" cy="584775"/>
          </a:xfrm>
          <a:custGeom>
            <a:avLst/>
            <a:gdLst>
              <a:gd name="csX0" fmla="*/ 0 w 5871990"/>
              <a:gd name="csY0" fmla="*/ 0 h 584775"/>
              <a:gd name="csX1" fmla="*/ 5871990 w 5871990"/>
              <a:gd name="csY1" fmla="*/ 0 h 584775"/>
              <a:gd name="csX2" fmla="*/ 5871990 w 5871990"/>
              <a:gd name="csY2" fmla="*/ 584775 h 584775"/>
              <a:gd name="csX3" fmla="*/ 0 w 5871990"/>
              <a:gd name="csY3" fmla="*/ 584775 h 584775"/>
              <a:gd name="csX4" fmla="*/ 0 w 5871990"/>
              <a:gd name="csY4" fmla="*/ 0 h 58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871990" h="584775" extrusionOk="0">
                <a:moveTo>
                  <a:pt x="0" y="0"/>
                </a:moveTo>
                <a:cubicBezTo>
                  <a:pt x="2277599" y="118645"/>
                  <a:pt x="4411869" y="116012"/>
                  <a:pt x="5871990" y="0"/>
                </a:cubicBezTo>
                <a:cubicBezTo>
                  <a:pt x="5887792" y="112674"/>
                  <a:pt x="5863847" y="317807"/>
                  <a:pt x="5871990" y="584775"/>
                </a:cubicBezTo>
                <a:cubicBezTo>
                  <a:pt x="4918139" y="719375"/>
                  <a:pt x="1987239" y="427579"/>
                  <a:pt x="0" y="584775"/>
                </a:cubicBezTo>
                <a:cubicBezTo>
                  <a:pt x="5974" y="355104"/>
                  <a:pt x="-8038" y="181367"/>
                  <a:pt x="0" y="0"/>
                </a:cubicBezTo>
                <a:close/>
              </a:path>
            </a:pathLst>
          </a:custGeom>
          <a:noFill/>
          <a:ln w="28575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Book Antiqua" panose="02040602050305030304" pitchFamily="18" charset="0"/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1606393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bg1"/>
            </a:gs>
            <a:gs pos="67000">
              <a:srgbClr val="E7CCF0"/>
            </a:gs>
            <a:gs pos="87000">
              <a:srgbClr val="D6AAE6"/>
            </a:gs>
            <a:gs pos="100000">
              <a:srgbClr val="D6AA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71719-4C5C-DDAA-5C2F-3AD01F778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4140"/>
            <a:ext cx="10515600" cy="658396"/>
          </a:xfrm>
          <a:custGeom>
            <a:avLst/>
            <a:gdLst>
              <a:gd name="csX0" fmla="*/ 0 w 10515600"/>
              <a:gd name="csY0" fmla="*/ 0 h 658396"/>
              <a:gd name="csX1" fmla="*/ 10515600 w 10515600"/>
              <a:gd name="csY1" fmla="*/ 0 h 658396"/>
              <a:gd name="csX2" fmla="*/ 10515600 w 10515600"/>
              <a:gd name="csY2" fmla="*/ 658396 h 658396"/>
              <a:gd name="csX3" fmla="*/ 0 w 10515600"/>
              <a:gd name="csY3" fmla="*/ 658396 h 658396"/>
              <a:gd name="csX4" fmla="*/ 0 w 10515600"/>
              <a:gd name="csY4" fmla="*/ 0 h 6583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515600" h="658396" fill="none" extrusionOk="0">
                <a:moveTo>
                  <a:pt x="0" y="0"/>
                </a:moveTo>
                <a:cubicBezTo>
                  <a:pt x="1336723" y="-49533"/>
                  <a:pt x="5786221" y="-14809"/>
                  <a:pt x="10515600" y="0"/>
                </a:cubicBezTo>
                <a:cubicBezTo>
                  <a:pt x="10568759" y="133453"/>
                  <a:pt x="10527319" y="520975"/>
                  <a:pt x="10515600" y="658396"/>
                </a:cubicBezTo>
                <a:cubicBezTo>
                  <a:pt x="5888664" y="610165"/>
                  <a:pt x="3324145" y="742851"/>
                  <a:pt x="0" y="658396"/>
                </a:cubicBezTo>
                <a:cubicBezTo>
                  <a:pt x="34943" y="535828"/>
                  <a:pt x="50380" y="315667"/>
                  <a:pt x="0" y="0"/>
                </a:cubicBezTo>
                <a:close/>
              </a:path>
              <a:path w="10515600" h="658396" stroke="0" extrusionOk="0">
                <a:moveTo>
                  <a:pt x="0" y="0"/>
                </a:moveTo>
                <a:cubicBezTo>
                  <a:pt x="2385074" y="118645"/>
                  <a:pt x="7736396" y="116012"/>
                  <a:pt x="10515600" y="0"/>
                </a:cubicBezTo>
                <a:cubicBezTo>
                  <a:pt x="10554254" y="162062"/>
                  <a:pt x="10524904" y="585953"/>
                  <a:pt x="10515600" y="658396"/>
                </a:cubicBezTo>
                <a:cubicBezTo>
                  <a:pt x="8570514" y="792996"/>
                  <a:pt x="4733866" y="501200"/>
                  <a:pt x="0" y="658396"/>
                </a:cubicBezTo>
                <a:cubicBezTo>
                  <a:pt x="-35458" y="481645"/>
                  <a:pt x="-11947" y="114787"/>
                  <a:pt x="0" y="0"/>
                </a:cubicBezTo>
                <a:close/>
              </a:path>
            </a:pathLst>
          </a:custGeom>
          <a:ln w="28575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Curved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pPr algn="ctr"/>
            <a:r>
              <a:rPr lang="en-US" sz="3230" b="1" dirty="0">
                <a:latin typeface="Book Antiqua" panose="02040602050305030304" pitchFamily="18" charset="0"/>
              </a:rPr>
              <a:t>KEY BUSINESS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809D79-4007-9677-4CA2-9BDFA7AF8CB8}"/>
              </a:ext>
            </a:extLst>
          </p:cNvPr>
          <p:cNvSpPr txBox="1"/>
          <p:nvPr/>
        </p:nvSpPr>
        <p:spPr>
          <a:xfrm>
            <a:off x="233190" y="1767765"/>
            <a:ext cx="11725619" cy="78944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latin typeface="Book Antiqua" panose="02040602050305030304" pitchFamily="18" charset="0"/>
              </a:rPr>
              <a:t>SALES &amp; PROFITABILITY</a:t>
            </a:r>
          </a:p>
          <a:p>
            <a:pPr algn="ctr"/>
            <a:endParaRPr lang="en-US" sz="2400" u="sng" dirty="0">
              <a:latin typeface="Book Antiqua" panose="02040602050305030304" pitchFamily="18" charset="0"/>
            </a:endParaRP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The West Region generated the highest sales and profit.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Technology was the best-performing category.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Some Furniture products generated low or negative profit. </a:t>
            </a:r>
          </a:p>
          <a:p>
            <a:endParaRPr lang="en-US" sz="2000" b="1" dirty="0">
              <a:latin typeface="Book Antiqua" panose="02040602050305030304" pitchFamily="18" charset="0"/>
            </a:endParaRPr>
          </a:p>
          <a:p>
            <a:pPr algn="ctr"/>
            <a:r>
              <a:rPr lang="en-US" sz="2000" b="1" u="sng" dirty="0">
                <a:latin typeface="Book Antiqua" panose="02040602050305030304" pitchFamily="18" charset="0"/>
              </a:rPr>
              <a:t>DISCOUNT IMPACT</a:t>
            </a:r>
          </a:p>
          <a:p>
            <a:pPr algn="ctr"/>
            <a:endParaRPr lang="en-US" sz="2400" u="sng" dirty="0">
              <a:latin typeface="Book Antiqua" panose="02040602050305030304" pitchFamily="18" charset="0"/>
            </a:endParaRP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Higher discounts reduced profit margins significantly.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Several products recorded losses despite strong sales volume. </a:t>
            </a:r>
          </a:p>
          <a:p>
            <a:endParaRPr lang="en-US" sz="2000" b="1" dirty="0">
              <a:latin typeface="Book Antiqua" panose="02040602050305030304" pitchFamily="18" charset="0"/>
            </a:endParaRPr>
          </a:p>
          <a:p>
            <a:pPr algn="ctr"/>
            <a:r>
              <a:rPr lang="en-US" sz="2000" b="1" u="sng" dirty="0">
                <a:latin typeface="Book Antiqua" panose="02040602050305030304" pitchFamily="18" charset="0"/>
              </a:rPr>
              <a:t>TREND ANALYSIS</a:t>
            </a:r>
          </a:p>
          <a:p>
            <a:pPr algn="ctr"/>
            <a:endParaRPr lang="en-US" sz="2400" u="sng" dirty="0">
              <a:latin typeface="Book Antiqua" panose="02040602050305030304" pitchFamily="18" charset="0"/>
            </a:endParaRP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Profit peaked around 2016 before declining afterward.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Seasonal sales fluctuations were visible across years. </a:t>
            </a:r>
          </a:p>
          <a:p>
            <a:endParaRPr lang="en-US" sz="2000" b="1" dirty="0">
              <a:latin typeface="Book Antiqua" panose="02040602050305030304" pitchFamily="18" charset="0"/>
            </a:endParaRPr>
          </a:p>
          <a:p>
            <a:pPr algn="ctr"/>
            <a:r>
              <a:rPr lang="en-US" sz="2000" b="1" u="sng" dirty="0">
                <a:latin typeface="Book Antiqua" panose="02040602050305030304" pitchFamily="18" charset="0"/>
              </a:rPr>
              <a:t>GEOGRAPHIC INSIGHTS</a:t>
            </a:r>
          </a:p>
          <a:p>
            <a:pPr algn="ctr"/>
            <a:endParaRPr lang="en-US" sz="2400" b="1" u="sng" dirty="0">
              <a:latin typeface="Book Antiqua" panose="02040602050305030304" pitchFamily="18" charset="0"/>
            </a:endParaRP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California and New York contributed significantly to overall sales.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Some states had strong sales but weak profitability.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712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bg1"/>
            </a:gs>
            <a:gs pos="67000">
              <a:srgbClr val="E7CCF0"/>
            </a:gs>
            <a:gs pos="87000">
              <a:srgbClr val="D6AAE6"/>
            </a:gs>
            <a:gs pos="100000">
              <a:srgbClr val="D6AA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17611-8F5D-574D-5771-2CD4071DB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937"/>
            <a:ext cx="10515600" cy="713479"/>
          </a:xfrm>
          <a:custGeom>
            <a:avLst/>
            <a:gdLst>
              <a:gd name="csX0" fmla="*/ 0 w 10515600"/>
              <a:gd name="csY0" fmla="*/ 0 h 713479"/>
              <a:gd name="csX1" fmla="*/ 10515600 w 10515600"/>
              <a:gd name="csY1" fmla="*/ 0 h 713479"/>
              <a:gd name="csX2" fmla="*/ 10515600 w 10515600"/>
              <a:gd name="csY2" fmla="*/ 713479 h 713479"/>
              <a:gd name="csX3" fmla="*/ 0 w 10515600"/>
              <a:gd name="csY3" fmla="*/ 713479 h 713479"/>
              <a:gd name="csX4" fmla="*/ 0 w 10515600"/>
              <a:gd name="csY4" fmla="*/ 0 h 7134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515600" h="713479" fill="none" extrusionOk="0">
                <a:moveTo>
                  <a:pt x="0" y="0"/>
                </a:moveTo>
                <a:cubicBezTo>
                  <a:pt x="1336723" y="-49533"/>
                  <a:pt x="5786221" y="-14809"/>
                  <a:pt x="10515600" y="0"/>
                </a:cubicBezTo>
                <a:cubicBezTo>
                  <a:pt x="10483498" y="295710"/>
                  <a:pt x="10560194" y="363210"/>
                  <a:pt x="10515600" y="713479"/>
                </a:cubicBezTo>
                <a:cubicBezTo>
                  <a:pt x="5888664" y="665248"/>
                  <a:pt x="3324145" y="797934"/>
                  <a:pt x="0" y="713479"/>
                </a:cubicBezTo>
                <a:cubicBezTo>
                  <a:pt x="-58546" y="396176"/>
                  <a:pt x="31445" y="291645"/>
                  <a:pt x="0" y="0"/>
                </a:cubicBezTo>
                <a:close/>
              </a:path>
              <a:path w="10515600" h="713479" stroke="0" extrusionOk="0">
                <a:moveTo>
                  <a:pt x="0" y="0"/>
                </a:moveTo>
                <a:cubicBezTo>
                  <a:pt x="2385074" y="118645"/>
                  <a:pt x="7736396" y="116012"/>
                  <a:pt x="10515600" y="0"/>
                </a:cubicBezTo>
                <a:cubicBezTo>
                  <a:pt x="10454510" y="236401"/>
                  <a:pt x="10543270" y="542274"/>
                  <a:pt x="10515600" y="713479"/>
                </a:cubicBezTo>
                <a:cubicBezTo>
                  <a:pt x="8570514" y="848079"/>
                  <a:pt x="4733866" y="556283"/>
                  <a:pt x="0" y="713479"/>
                </a:cubicBezTo>
                <a:cubicBezTo>
                  <a:pt x="-33776" y="483908"/>
                  <a:pt x="-60421" y="168539"/>
                  <a:pt x="0" y="0"/>
                </a:cubicBezTo>
                <a:close/>
              </a:path>
            </a:pathLst>
          </a:custGeom>
          <a:ln w="28575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Curved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pPr algn="ctr"/>
            <a:r>
              <a:rPr lang="en-US" sz="3230" b="1" dirty="0">
                <a:latin typeface="Book Antiqua" panose="02040602050305030304" pitchFamily="18" charset="0"/>
              </a:rPr>
              <a:t>BUSINESS 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53EC2E-40A5-8411-6528-9F2FB65887DD}"/>
              </a:ext>
            </a:extLst>
          </p:cNvPr>
          <p:cNvSpPr txBox="1"/>
          <p:nvPr/>
        </p:nvSpPr>
        <p:spPr>
          <a:xfrm>
            <a:off x="190959" y="1410158"/>
            <a:ext cx="11810082" cy="7478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n-US" sz="2400" b="1" u="sng" dirty="0">
              <a:latin typeface="Book Antiqua" panose="02040602050305030304" pitchFamily="18" charset="0"/>
            </a:endParaRPr>
          </a:p>
          <a:p>
            <a:pPr algn="ctr"/>
            <a:r>
              <a:rPr lang="en-US" sz="2000" b="1" u="sng" dirty="0">
                <a:latin typeface="Book Antiqua" panose="02040602050305030304" pitchFamily="18" charset="0"/>
              </a:rPr>
              <a:t>IMPROVE PROFITABILITY</a:t>
            </a:r>
            <a:endParaRPr lang="en-US" sz="2000" u="sng" dirty="0">
              <a:latin typeface="Book Antiqua" panose="02040602050305030304" pitchFamily="18" charset="0"/>
            </a:endParaRPr>
          </a:p>
          <a:p>
            <a:pPr lvl="0"/>
            <a:endParaRPr lang="en-US" sz="1600" dirty="0">
              <a:latin typeface="Book Antiqua" panose="02040602050305030304" pitchFamily="18" charset="0"/>
            </a:endParaRP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Reduce excessive discounting on low-margin products.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Review pricing strategies for underperforming categories. </a:t>
            </a:r>
          </a:p>
          <a:p>
            <a:endParaRPr lang="en-US" b="1" dirty="0">
              <a:latin typeface="Book Antiqua" panose="02040602050305030304" pitchFamily="18" charset="0"/>
            </a:endParaRPr>
          </a:p>
          <a:p>
            <a:pPr algn="ctr"/>
            <a:r>
              <a:rPr lang="en-US" sz="2000" b="1" u="sng" dirty="0">
                <a:latin typeface="Book Antiqua" panose="02040602050305030304" pitchFamily="18" charset="0"/>
              </a:rPr>
              <a:t>PRODUCT STRATEGY</a:t>
            </a:r>
            <a:endParaRPr lang="en-US" sz="2000" u="sng" dirty="0">
              <a:latin typeface="Book Antiqua" panose="02040602050305030304" pitchFamily="18" charset="0"/>
            </a:endParaRPr>
          </a:p>
          <a:p>
            <a:pPr lvl="0"/>
            <a:endParaRPr lang="en-US" dirty="0">
              <a:latin typeface="Book Antiqua" panose="02040602050305030304" pitchFamily="18" charset="0"/>
            </a:endParaRP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Focus more on high-performing Technology products.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Re-evaluate poorly performing Furniture sub-categories. </a:t>
            </a:r>
          </a:p>
          <a:p>
            <a:endParaRPr lang="en-US" b="1" dirty="0">
              <a:latin typeface="Book Antiqua" panose="02040602050305030304" pitchFamily="18" charset="0"/>
            </a:endParaRPr>
          </a:p>
          <a:p>
            <a:pPr algn="ctr"/>
            <a:r>
              <a:rPr lang="en-US" sz="2000" b="1" u="sng" dirty="0">
                <a:latin typeface="Book Antiqua" panose="02040602050305030304" pitchFamily="18" charset="0"/>
              </a:rPr>
              <a:t>REGIONAL GROWTH</a:t>
            </a:r>
          </a:p>
          <a:p>
            <a:pPr lvl="0"/>
            <a:endParaRPr lang="en-US" dirty="0">
              <a:latin typeface="Book Antiqua" panose="02040602050305030304" pitchFamily="18" charset="0"/>
            </a:endParaRP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Invest more resources in high-performing regions like the West.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Develop targeted strategies for low-performing states. </a:t>
            </a:r>
          </a:p>
          <a:p>
            <a:endParaRPr lang="en-US" b="1" dirty="0">
              <a:latin typeface="Book Antiqua" panose="02040602050305030304" pitchFamily="18" charset="0"/>
            </a:endParaRPr>
          </a:p>
          <a:p>
            <a:pPr algn="ctr"/>
            <a:r>
              <a:rPr lang="en-US" sz="2000" b="1" u="sng" dirty="0">
                <a:latin typeface="Book Antiqua" panose="02040602050305030304" pitchFamily="18" charset="0"/>
              </a:rPr>
              <a:t>BUSINESS INTELIGENCE</a:t>
            </a:r>
            <a:endParaRPr lang="en-US" sz="2000" u="sng" dirty="0">
              <a:latin typeface="Book Antiqua" panose="02040602050305030304" pitchFamily="18" charset="0"/>
            </a:endParaRPr>
          </a:p>
          <a:p>
            <a:pPr lvl="0"/>
            <a:endParaRPr lang="en-US" dirty="0">
              <a:latin typeface="Book Antiqua" panose="02040602050305030304" pitchFamily="18" charset="0"/>
            </a:endParaRP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Continue using interactive dashboards for real-time monitoring.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Use KPI tracking to improve strategic decision-making. </a:t>
            </a:r>
          </a:p>
          <a:p>
            <a:endParaRPr lang="en-US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16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bg1"/>
            </a:gs>
            <a:gs pos="67000">
              <a:srgbClr val="E7CCF0"/>
            </a:gs>
            <a:gs pos="87000">
              <a:srgbClr val="D6AAE6"/>
            </a:gs>
            <a:gs pos="100000">
              <a:srgbClr val="D6AA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C8FFA-9F5F-97C4-A092-B13E5D5DC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904"/>
            <a:ext cx="10515600" cy="999918"/>
          </a:xfrm>
          <a:custGeom>
            <a:avLst/>
            <a:gdLst>
              <a:gd name="csX0" fmla="*/ 0 w 10515600"/>
              <a:gd name="csY0" fmla="*/ 0 h 999918"/>
              <a:gd name="csX1" fmla="*/ 10515600 w 10515600"/>
              <a:gd name="csY1" fmla="*/ 0 h 999918"/>
              <a:gd name="csX2" fmla="*/ 10515600 w 10515600"/>
              <a:gd name="csY2" fmla="*/ 999918 h 999918"/>
              <a:gd name="csX3" fmla="*/ 0 w 10515600"/>
              <a:gd name="csY3" fmla="*/ 999918 h 999918"/>
              <a:gd name="csX4" fmla="*/ 0 w 10515600"/>
              <a:gd name="csY4" fmla="*/ 0 h 999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515600" h="999918" fill="none" extrusionOk="0">
                <a:moveTo>
                  <a:pt x="0" y="0"/>
                </a:moveTo>
                <a:cubicBezTo>
                  <a:pt x="1336723" y="-49533"/>
                  <a:pt x="5786221" y="-14809"/>
                  <a:pt x="10515600" y="0"/>
                </a:cubicBezTo>
                <a:cubicBezTo>
                  <a:pt x="10452916" y="463918"/>
                  <a:pt x="10520687" y="517359"/>
                  <a:pt x="10515600" y="999918"/>
                </a:cubicBezTo>
                <a:cubicBezTo>
                  <a:pt x="5888664" y="951687"/>
                  <a:pt x="3324145" y="1084373"/>
                  <a:pt x="0" y="999918"/>
                </a:cubicBezTo>
                <a:cubicBezTo>
                  <a:pt x="34665" y="716269"/>
                  <a:pt x="-58175" y="432368"/>
                  <a:pt x="0" y="0"/>
                </a:cubicBezTo>
                <a:close/>
              </a:path>
              <a:path w="10515600" h="999918" stroke="0" extrusionOk="0">
                <a:moveTo>
                  <a:pt x="0" y="0"/>
                </a:moveTo>
                <a:cubicBezTo>
                  <a:pt x="2385074" y="118645"/>
                  <a:pt x="7736396" y="116012"/>
                  <a:pt x="10515600" y="0"/>
                </a:cubicBezTo>
                <a:cubicBezTo>
                  <a:pt x="10590949" y="385509"/>
                  <a:pt x="10582229" y="817966"/>
                  <a:pt x="10515600" y="999918"/>
                </a:cubicBezTo>
                <a:cubicBezTo>
                  <a:pt x="8570514" y="1134518"/>
                  <a:pt x="4733866" y="842722"/>
                  <a:pt x="0" y="999918"/>
                </a:cubicBezTo>
                <a:cubicBezTo>
                  <a:pt x="-19309" y="702795"/>
                  <a:pt x="51276" y="238615"/>
                  <a:pt x="0" y="0"/>
                </a:cubicBezTo>
                <a:close/>
              </a:path>
            </a:pathLst>
          </a:custGeom>
          <a:ln w="28575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Curved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pPr algn="ctr"/>
            <a:r>
              <a:rPr lang="en-US" sz="3230" b="1" dirty="0">
                <a:latin typeface="Book Antiqua" panose="02040602050305030304" pitchFamily="18" charset="0"/>
              </a:rPr>
              <a:t>CHALLENGES ENCOUNTERED DURING THE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66F3D-1749-522E-31BB-3E4EF810BFD2}"/>
              </a:ext>
            </a:extLst>
          </p:cNvPr>
          <p:cNvSpPr txBox="1"/>
          <p:nvPr/>
        </p:nvSpPr>
        <p:spPr>
          <a:xfrm>
            <a:off x="286439" y="1729648"/>
            <a:ext cx="11699913" cy="724813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latin typeface="Book Antiqua" panose="02040602050305030304" pitchFamily="18" charset="0"/>
              </a:rPr>
              <a:t>Data Challenges</a:t>
            </a:r>
            <a:endParaRPr lang="en-US" sz="2000" u="sng" dirty="0">
              <a:latin typeface="Book Antiqua" panose="02040602050305030304" pitchFamily="18" charset="0"/>
            </a:endParaRPr>
          </a:p>
          <a:p>
            <a:pPr lvl="0">
              <a:lnSpc>
                <a:spcPct val="150000"/>
              </a:lnSpc>
            </a:pPr>
            <a:endParaRPr lang="en-US" dirty="0">
              <a:latin typeface="Book Antiqua" panose="02040602050305030304" pitchFamily="18" charset="0"/>
            </a:endParaRP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Discount column contained many zero values.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Profit column included negative values.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Data cleaning and validation were required. </a:t>
            </a:r>
          </a:p>
          <a:p>
            <a:pPr lvl="0"/>
            <a:endParaRPr lang="en-US" dirty="0">
              <a:latin typeface="Book Antiqua" panose="02040602050305030304" pitchFamily="18" charset="0"/>
            </a:endParaRPr>
          </a:p>
          <a:p>
            <a:pPr algn="ctr"/>
            <a:r>
              <a:rPr lang="en-US" sz="2000" b="1" u="sng" dirty="0">
                <a:latin typeface="Book Antiqua" panose="02040602050305030304" pitchFamily="18" charset="0"/>
              </a:rPr>
              <a:t>Technical Challenges</a:t>
            </a:r>
            <a:endParaRPr lang="en-US" sz="2000" u="sng" dirty="0">
              <a:latin typeface="Book Antiqua" panose="02040602050305030304" pitchFamily="18" charset="0"/>
            </a:endParaRPr>
          </a:p>
          <a:p>
            <a:pPr lvl="0">
              <a:lnSpc>
                <a:spcPct val="150000"/>
              </a:lnSpc>
            </a:pPr>
            <a:endParaRPr lang="en-US" dirty="0">
              <a:latin typeface="Book Antiqua" panose="02040602050305030304" pitchFamily="18" charset="0"/>
            </a:endParaRP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Building DAX measures for time intelligence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Designing an organized dashboard layout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Configuring map visualizations correctly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Ensuring visuals interacted properly with slicers </a:t>
            </a:r>
          </a:p>
          <a:p>
            <a:endParaRPr lang="en-US" b="1" dirty="0">
              <a:latin typeface="Book Antiqua" panose="02040602050305030304" pitchFamily="18" charset="0"/>
            </a:endParaRPr>
          </a:p>
          <a:p>
            <a:pPr algn="ctr"/>
            <a:r>
              <a:rPr lang="en-US" sz="2000" b="1" u="sng" dirty="0">
                <a:latin typeface="Book Antiqua" panose="02040602050305030304" pitchFamily="18" charset="0"/>
              </a:rPr>
              <a:t>Dashboard Design Challenges</a:t>
            </a:r>
            <a:endParaRPr lang="en-US" dirty="0">
              <a:latin typeface="Book Antiqua" panose="02040602050305030304" pitchFamily="18" charset="0"/>
            </a:endParaRPr>
          </a:p>
          <a:p>
            <a:pPr lvl="0">
              <a:lnSpc>
                <a:spcPct val="150000"/>
              </a:lnSpc>
            </a:pPr>
            <a:endParaRPr lang="en-US" dirty="0">
              <a:latin typeface="Book Antiqua" panose="02040602050305030304" pitchFamily="18" charset="0"/>
            </a:endParaRP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Selecting appropriate visualizations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Maintaining readability and consistency </a:t>
            </a:r>
          </a:p>
          <a:p>
            <a:pPr marL="285750" lvl="0" indent="-28575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Balancing dashboard aesthetics with functionality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882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bg1"/>
            </a:gs>
            <a:gs pos="67000">
              <a:srgbClr val="E7CCF0"/>
            </a:gs>
            <a:gs pos="87000">
              <a:srgbClr val="D6AAE6"/>
            </a:gs>
            <a:gs pos="100000">
              <a:srgbClr val="D6AA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727ED-729F-B96A-C344-72C8801EB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869"/>
            <a:ext cx="10515600" cy="647379"/>
          </a:xfrm>
          <a:custGeom>
            <a:avLst/>
            <a:gdLst>
              <a:gd name="csX0" fmla="*/ 0 w 10515600"/>
              <a:gd name="csY0" fmla="*/ 0 h 647379"/>
              <a:gd name="csX1" fmla="*/ 10515600 w 10515600"/>
              <a:gd name="csY1" fmla="*/ 0 h 647379"/>
              <a:gd name="csX2" fmla="*/ 10515600 w 10515600"/>
              <a:gd name="csY2" fmla="*/ 647379 h 647379"/>
              <a:gd name="csX3" fmla="*/ 0 w 10515600"/>
              <a:gd name="csY3" fmla="*/ 647379 h 647379"/>
              <a:gd name="csX4" fmla="*/ 0 w 10515600"/>
              <a:gd name="csY4" fmla="*/ 0 h 6473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515600" h="647379" fill="none" extrusionOk="0">
                <a:moveTo>
                  <a:pt x="0" y="0"/>
                </a:moveTo>
                <a:cubicBezTo>
                  <a:pt x="1336723" y="-49533"/>
                  <a:pt x="5786221" y="-14809"/>
                  <a:pt x="10515600" y="0"/>
                </a:cubicBezTo>
                <a:cubicBezTo>
                  <a:pt x="10543367" y="294247"/>
                  <a:pt x="10508506" y="477225"/>
                  <a:pt x="10515600" y="647379"/>
                </a:cubicBezTo>
                <a:cubicBezTo>
                  <a:pt x="5888664" y="599148"/>
                  <a:pt x="3324145" y="731834"/>
                  <a:pt x="0" y="647379"/>
                </a:cubicBezTo>
                <a:cubicBezTo>
                  <a:pt x="-49216" y="474744"/>
                  <a:pt x="6218" y="316558"/>
                  <a:pt x="0" y="0"/>
                </a:cubicBezTo>
                <a:close/>
              </a:path>
              <a:path w="10515600" h="647379" stroke="0" extrusionOk="0">
                <a:moveTo>
                  <a:pt x="0" y="0"/>
                </a:moveTo>
                <a:cubicBezTo>
                  <a:pt x="2385074" y="118645"/>
                  <a:pt x="7736396" y="116012"/>
                  <a:pt x="10515600" y="0"/>
                </a:cubicBezTo>
                <a:cubicBezTo>
                  <a:pt x="10459809" y="244370"/>
                  <a:pt x="10489565" y="533096"/>
                  <a:pt x="10515600" y="647379"/>
                </a:cubicBezTo>
                <a:cubicBezTo>
                  <a:pt x="8570514" y="781979"/>
                  <a:pt x="4733866" y="490183"/>
                  <a:pt x="0" y="647379"/>
                </a:cubicBezTo>
                <a:cubicBezTo>
                  <a:pt x="27481" y="532855"/>
                  <a:pt x="-50592" y="247655"/>
                  <a:pt x="0" y="0"/>
                </a:cubicBezTo>
                <a:close/>
              </a:path>
            </a:pathLst>
          </a:custGeom>
          <a:ln w="28575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Curved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pPr algn="ctr"/>
            <a:r>
              <a:rPr lang="en-US" sz="3230" b="1" dirty="0">
                <a:latin typeface="Book Antiqua" panose="02040602050305030304" pitchFamily="18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FF5BED-B216-4A81-D52F-2F50DCEC79BC}"/>
              </a:ext>
            </a:extLst>
          </p:cNvPr>
          <p:cNvSpPr txBox="1"/>
          <p:nvPr/>
        </p:nvSpPr>
        <p:spPr>
          <a:xfrm>
            <a:off x="220337" y="995733"/>
            <a:ext cx="11655846" cy="1043426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1100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Book Antiqua" panose="02040602050305030304" pitchFamily="18" charset="0"/>
              </a:rPr>
              <a:t>This project successfully transformed raw Superstore sales data into a professional interactive dashboard using Microsoft Power BI.</a:t>
            </a:r>
            <a:endParaRPr lang="en-US" sz="2000" b="1" u="sng" dirty="0">
              <a:latin typeface="Book Antiqua" panose="02040602050305030304" pitchFamily="18" charset="0"/>
            </a:endParaRPr>
          </a:p>
          <a:p>
            <a:pPr algn="ctr">
              <a:lnSpc>
                <a:spcPct val="150000"/>
              </a:lnSpc>
            </a:pPr>
            <a:endParaRPr lang="en-US" sz="900" b="1" u="sng" dirty="0">
              <a:latin typeface="Book Antiqua" panose="0204060205030503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000" b="1" u="sng" dirty="0">
                <a:latin typeface="Book Antiqua" panose="02040602050305030304" pitchFamily="18" charset="0"/>
              </a:rPr>
              <a:t>PROJECT ACHIEVEMENTS</a:t>
            </a:r>
            <a:endParaRPr lang="en-US" sz="2000" u="sng" dirty="0">
              <a:latin typeface="Book Antiqua" panose="02040602050305030304" pitchFamily="18" charset="0"/>
            </a:endParaRPr>
          </a:p>
          <a:p>
            <a:pPr marL="342900" lvl="0" indent="-34290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Built interactive visual reports </a:t>
            </a:r>
          </a:p>
          <a:p>
            <a:pPr marL="342900" lvl="0" indent="-34290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Developed meaningful KPIs </a:t>
            </a:r>
          </a:p>
          <a:p>
            <a:pPr marL="342900" lvl="0" indent="-34290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Identified business performance trends </a:t>
            </a:r>
          </a:p>
          <a:p>
            <a:pPr marL="342900" lvl="0" indent="-34290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Improved understanding of regional and product profitability </a:t>
            </a:r>
          </a:p>
          <a:p>
            <a:pPr marL="342900" lvl="0" indent="-34290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Demonstrated practical business intelligence skills </a:t>
            </a:r>
          </a:p>
          <a:p>
            <a:pPr algn="ctr">
              <a:lnSpc>
                <a:spcPct val="150000"/>
              </a:lnSpc>
            </a:pPr>
            <a:endParaRPr lang="en-US" sz="1400" b="1" u="sng" dirty="0">
              <a:latin typeface="Book Antiqua" panose="0204060205030503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000" b="1" u="sng" dirty="0">
                <a:latin typeface="Book Antiqua" panose="02040602050305030304" pitchFamily="18" charset="0"/>
              </a:rPr>
              <a:t>SKILLS DEMONSTRATED</a:t>
            </a:r>
            <a:endParaRPr lang="en-US" sz="2000" u="sng" dirty="0">
              <a:latin typeface="Book Antiqua" panose="02040602050305030304" pitchFamily="18" charset="0"/>
            </a:endParaRPr>
          </a:p>
          <a:p>
            <a:pPr marL="342900" lvl="0" indent="-34290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Data Cleaning </a:t>
            </a:r>
          </a:p>
          <a:p>
            <a:pPr marL="342900" lvl="0" indent="-34290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Data Visualization </a:t>
            </a:r>
          </a:p>
          <a:p>
            <a:pPr marL="342900" lvl="0" indent="-34290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DAX Calculations </a:t>
            </a:r>
          </a:p>
          <a:p>
            <a:pPr marL="342900" lvl="0" indent="-34290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KPI Reporting </a:t>
            </a:r>
          </a:p>
          <a:p>
            <a:pPr marL="342900" lvl="0" indent="-34290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Dashboard Design </a:t>
            </a:r>
          </a:p>
          <a:p>
            <a:pPr marL="342900" lvl="0" indent="-34290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Business Insight Generation </a:t>
            </a:r>
          </a:p>
          <a:p>
            <a:pPr marL="342900" lvl="0" indent="-342900">
              <a:lnSpc>
                <a:spcPct val="150000"/>
              </a:lnSpc>
              <a:buClr>
                <a:srgbClr val="7030A0"/>
              </a:buClr>
              <a:buSzPct val="89000"/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Analytical Thinking </a:t>
            </a:r>
          </a:p>
          <a:p>
            <a:pPr algn="ctr">
              <a:lnSpc>
                <a:spcPct val="150000"/>
              </a:lnSpc>
            </a:pPr>
            <a:endParaRPr lang="en-US" sz="2000" b="1" u="sng" dirty="0">
              <a:latin typeface="Book Antiqua" panose="0204060205030503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000" b="1" u="sng" dirty="0">
                <a:latin typeface="Book Antiqua" panose="02040602050305030304" pitchFamily="18" charset="0"/>
              </a:rPr>
              <a:t>FINAL OUTCOME</a:t>
            </a:r>
            <a:endParaRPr lang="en-US" sz="2000" u="sng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Book Antiqua" panose="02040602050305030304" pitchFamily="18" charset="0"/>
              </a:rPr>
              <a:t>The dashboard provides stakeholders with a clear and interactive way to monitor business performance and make data-driven decisions effectively.</a:t>
            </a:r>
          </a:p>
        </p:txBody>
      </p:sp>
    </p:spTree>
    <p:extLst>
      <p:ext uri="{BB962C8B-B14F-4D97-AF65-F5344CB8AC3E}">
        <p14:creationId xmlns:p14="http://schemas.microsoft.com/office/powerpoint/2010/main" val="1663321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216</TotalTime>
  <Words>574</Words>
  <Application>Microsoft Office PowerPoint</Application>
  <PresentationFormat>Custom</PresentationFormat>
  <Paragraphs>168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Book Antiqua</vt:lpstr>
      <vt:lpstr>Calibri</vt:lpstr>
      <vt:lpstr>Calibri Light</vt:lpstr>
      <vt:lpstr>Wingdings</vt:lpstr>
      <vt:lpstr>Office Theme</vt:lpstr>
      <vt:lpstr>SUPERSTORE SALES ANALYSIS</vt:lpstr>
      <vt:lpstr>PROJECT OVERVIEW</vt:lpstr>
      <vt:lpstr>PowerPoint Presentation</vt:lpstr>
      <vt:lpstr>BUSINESS PROBLEM</vt:lpstr>
      <vt:lpstr>PowerPoint Presentation</vt:lpstr>
      <vt:lpstr>PowerPoint Presentation</vt:lpstr>
      <vt:lpstr>KEY BUSINESS INSIGHTS</vt:lpstr>
      <vt:lpstr>BUSINESS RECOMMENDATIONS</vt:lpstr>
      <vt:lpstr>CHALLENGES ENCOUNTERED DURING THE PROJECT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Benedicta Izegbue</dc:creator>
  <cp:lastModifiedBy>Benedicta Izegbue</cp:lastModifiedBy>
  <cp:revision>14</cp:revision>
  <dcterms:created xsi:type="dcterms:W3CDTF">2026-05-29T12:13:54Z</dcterms:created>
  <dcterms:modified xsi:type="dcterms:W3CDTF">2026-05-29T16:13:59Z</dcterms:modified>
</cp:coreProperties>
</file>