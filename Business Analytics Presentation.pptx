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C386"/>
    <a:srgbClr val="FDE9D3"/>
    <a:srgbClr val="F8A54A"/>
    <a:srgbClr val="F4CDC8"/>
    <a:srgbClr val="D3D2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7" d="100"/>
          <a:sy n="57" d="100"/>
        </p:scale>
        <p:origin x="28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2" y="1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6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6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2"/>
            <a:ext cx="2743200" cy="365125"/>
          </a:xfrm>
        </p:spPr>
        <p:txBody>
          <a:bodyPr/>
          <a:lstStyle/>
          <a:p>
            <a:fld id="{A487AB96-A5A9-4BBA-A088-AD9B5FAC85D8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2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3" y="5410200"/>
            <a:ext cx="771089" cy="365125"/>
          </a:xfrm>
        </p:spPr>
        <p:txBody>
          <a:bodyPr/>
          <a:lstStyle/>
          <a:p>
            <a:fld id="{C7F17A6E-B622-43FC-BB4B-A2CC0479B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76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7AB96-A5A9-4BBA-A088-AD9B5FAC85D8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17A6E-B622-43FC-BB4B-A2CC0479B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63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7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7AB96-A5A9-4BBA-A088-AD9B5FAC85D8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17A6E-B622-43FC-BB4B-A2CC0479B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918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249487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2" y="2249487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7AB96-A5A9-4BBA-A088-AD9B5FAC85D8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17A6E-B622-43FC-BB4B-A2CC0479B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800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7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1" y="3073398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8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7AB96-A5A9-4BBA-A088-AD9B5FAC85D8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17A6E-B622-43FC-BB4B-A2CC0479B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391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7AB96-A5A9-4BBA-A088-AD9B5FAC85D8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17A6E-B622-43FC-BB4B-A2CC0479B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328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7AB96-A5A9-4BBA-A088-AD9B5FAC85D8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17A6E-B622-43FC-BB4B-A2CC0479B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83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6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2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6" y="2249487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7AB96-A5A9-4BBA-A088-AD9B5FAC85D8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17A6E-B622-43FC-BB4B-A2CC0479B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273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2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2" y="2249487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7AB96-A5A9-4BBA-A088-AD9B5FAC85D8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17A6E-B622-43FC-BB4B-A2CC0479B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18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6" y="5124021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7AB96-A5A9-4BBA-A088-AD9B5FAC85D8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17A6E-B622-43FC-BB4B-A2CC0479B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996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8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2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7AB96-A5A9-4BBA-A088-AD9B5FAC85D8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17A6E-B622-43FC-BB4B-A2CC0479B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6411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6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7AB96-A5A9-4BBA-A088-AD9B5FAC85D8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17A6E-B622-43FC-BB4B-A2CC0479B2FD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184625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2134042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6" y="4657656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7AB96-A5A9-4BBA-A088-AD9B5FAC85D8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17A6E-B622-43FC-BB4B-A2CC0479B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1708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20" y="3360264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8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6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4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7AB96-A5A9-4BBA-A088-AD9B5FAC85D8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17A6E-B622-43FC-BB4B-A2CC0479B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2791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7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9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9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7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9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8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9" y="4404596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4" y="2666999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7AB96-A5A9-4BBA-A088-AD9B5FAC85D8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17A6E-B622-43FC-BB4B-A2CC0479B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6710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7AB96-A5A9-4BBA-A088-AD9B5FAC85D8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17A6E-B622-43FC-BB4B-A2CC0479B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2464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2" y="609600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600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7AB96-A5A9-4BBA-A088-AD9B5FAC85D8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17A6E-B622-43FC-BB4B-A2CC0479B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088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1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4" y="2249488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87AB96-A5A9-4BBA-A088-AD9B5FAC85D8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3" y="5883276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3" y="5883275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F17A6E-B622-43FC-BB4B-A2CC0479B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094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C243D-9E85-8E0F-42B9-82F59A9CB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6" y="478970"/>
            <a:ext cx="8791575" cy="2689904"/>
          </a:xfrm>
          <a:solidFill>
            <a:schemeClr val="accent5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</a:pPr>
            <a:br>
              <a:rPr lang="en-US" sz="3200" b="1" dirty="0">
                <a:latin typeface="Century Schoolbook" panose="02040604050505020304" pitchFamily="18" charset="0"/>
              </a:rPr>
            </a:br>
            <a:br>
              <a:rPr lang="en-US" sz="3200" b="1" dirty="0">
                <a:latin typeface="Century Schoolbook" panose="02040604050505020304" pitchFamily="18" charset="0"/>
              </a:rPr>
            </a:br>
            <a:br>
              <a:rPr lang="en-US" sz="3200" b="1" dirty="0">
                <a:latin typeface="Century Schoolbook" panose="02040604050505020304" pitchFamily="18" charset="0"/>
              </a:rPr>
            </a:br>
            <a:br>
              <a:rPr lang="en-US" sz="3200" b="1" dirty="0">
                <a:latin typeface="Century Schoolbook" panose="02040604050505020304" pitchFamily="18" charset="0"/>
              </a:rPr>
            </a:br>
            <a:br>
              <a:rPr lang="en-US" sz="3200" b="1" dirty="0">
                <a:latin typeface="Century Schoolbook" panose="02040604050505020304" pitchFamily="18" charset="0"/>
              </a:rPr>
            </a:br>
            <a:br>
              <a:rPr lang="en-US" sz="3200" b="1" dirty="0">
                <a:latin typeface="Century Schoolbook" panose="02040604050505020304" pitchFamily="18" charset="0"/>
              </a:rPr>
            </a:br>
            <a:br>
              <a:rPr lang="en-US" sz="3200" b="1" dirty="0">
                <a:latin typeface="Century Schoolbook" panose="02040604050505020304" pitchFamily="18" charset="0"/>
              </a:rPr>
            </a:br>
            <a:br>
              <a:rPr lang="en-US" sz="3200" b="1" dirty="0">
                <a:latin typeface="Century Schoolbook" panose="02040604050505020304" pitchFamily="18" charset="0"/>
              </a:rPr>
            </a:br>
            <a:br>
              <a:rPr lang="en-US" sz="3200" b="1" dirty="0">
                <a:latin typeface="Century Schoolbook" panose="02040604050505020304" pitchFamily="18" charset="0"/>
              </a:rPr>
            </a:br>
            <a:br>
              <a:rPr lang="en-US" sz="3200" b="1" dirty="0">
                <a:latin typeface="Century Schoolbook" panose="02040604050505020304" pitchFamily="18" charset="0"/>
              </a:rPr>
            </a:br>
            <a:r>
              <a:rPr lang="en-US" sz="3200" b="1" dirty="0">
                <a:latin typeface="Century Schoolbook" panose="02040604050505020304" pitchFamily="18" charset="0"/>
              </a:rPr>
              <a:t>Telco Customer Churn Analysis</a:t>
            </a:r>
            <a:br>
              <a:rPr lang="en-US" sz="3200" b="1" dirty="0">
                <a:latin typeface="Century Schoolbook" panose="02040604050505020304" pitchFamily="18" charset="0"/>
              </a:rPr>
            </a:br>
            <a:br>
              <a:rPr lang="en-US" sz="3200" b="1" dirty="0">
                <a:latin typeface="Century Schoolbook" panose="02040604050505020304" pitchFamily="18" charset="0"/>
              </a:rPr>
            </a:br>
            <a:r>
              <a:rPr lang="en-US" sz="3100" b="1" dirty="0">
                <a:latin typeface="Century Schoolbook" panose="02040604050505020304" pitchFamily="18" charset="0"/>
              </a:rPr>
              <a:t>Business Analytics Case Study</a:t>
            </a:r>
            <a:br>
              <a:rPr lang="en-US" dirty="0"/>
            </a:br>
            <a:br>
              <a:rPr lang="en-US" sz="3200" dirty="0"/>
            </a:b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DDE2DA-7C68-EFDF-3558-6D62B8FB92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1171" y="3961270"/>
            <a:ext cx="4016828" cy="1209445"/>
          </a:xfrm>
          <a:solidFill>
            <a:srgbClr val="D3D2C5"/>
          </a:solidFill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2500" lnSpcReduction="1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Imprint MT Shadow" panose="04020605060303030202" pitchFamily="82" charset="0"/>
              </a:rPr>
              <a:t>BENEDICTA IZEGBUE</a:t>
            </a:r>
            <a:endParaRPr lang="en-US" sz="700" dirty="0">
              <a:solidFill>
                <a:schemeClr val="tx1"/>
              </a:solidFill>
              <a:latin typeface="Imprint MT Shadow" panose="04020605060303030202" pitchFamily="82" charset="0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Imprint MT Shadow" panose="04020605060303030202" pitchFamily="82" charset="0"/>
              </a:rPr>
              <a:t>BUSINESS AND FINANCIAL ANALYST</a:t>
            </a:r>
          </a:p>
        </p:txBody>
      </p:sp>
    </p:spTree>
    <p:extLst>
      <p:ext uri="{BB962C8B-B14F-4D97-AF65-F5344CB8AC3E}">
        <p14:creationId xmlns:p14="http://schemas.microsoft.com/office/powerpoint/2010/main" val="3214925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9F116-CD5A-3FB4-BCF7-F85B6B8CD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087" y="195943"/>
            <a:ext cx="8893628" cy="729344"/>
          </a:xfrm>
          <a:solidFill>
            <a:srgbClr val="FAC386">
              <a:alpha val="42000"/>
            </a:srgbClr>
          </a:solidFill>
          <a:ln w="31750">
            <a:gradFill flip="none" rotWithShape="1">
              <a:gsLst>
                <a:gs pos="0">
                  <a:schemeClr val="tx1">
                    <a:lumMod val="90000"/>
                    <a:lumOff val="1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8100000" scaled="1"/>
              <a:tileRect/>
            </a:gradFill>
          </a:ln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Goudy Old Style" panose="02020502050305020303" pitchFamily="18" charset="0"/>
              </a:rPr>
              <a:t>Business Problem Statement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969DF-F7A7-BE09-4941-2AEB93FAC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" y="1143000"/>
            <a:ext cx="12072257" cy="5715000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600" b="1" u="sng" dirty="0">
                <a:latin typeface="Trebuchet MS" panose="020B0603020202020204" pitchFamily="34" charset="0"/>
              </a:rPr>
              <a:t>Business Challenge</a:t>
            </a:r>
            <a:endParaRPr lang="en-US" sz="2600" u="sng" dirty="0">
              <a:latin typeface="Trebuchet MS" panose="020B0603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Trebuchet MS" panose="020B0603020202020204" pitchFamily="34" charset="0"/>
              </a:rPr>
              <a:t>Customer churn is one of the biggest challenges in the telecommunications industry. Every customer lost represents lost revenue, increased acquisition costs, and reduced customer lifetime value.</a:t>
            </a:r>
          </a:p>
          <a:p>
            <a:pPr marL="0" indent="0" algn="ctr">
              <a:buNone/>
            </a:pPr>
            <a:r>
              <a:rPr lang="en-US" sz="2600" b="1" u="sng" dirty="0">
                <a:latin typeface="Trebuchet MS" panose="020B0603020202020204" pitchFamily="34" charset="0"/>
              </a:rPr>
              <a:t>Key Questions</a:t>
            </a:r>
          </a:p>
          <a:p>
            <a:pPr lvl="0"/>
            <a:r>
              <a:rPr lang="en-US" dirty="0">
                <a:latin typeface="Trebuchet MS" panose="020B0603020202020204" pitchFamily="34" charset="0"/>
              </a:rPr>
              <a:t>Why are customers leaving?</a:t>
            </a:r>
          </a:p>
          <a:p>
            <a:pPr lvl="0"/>
            <a:r>
              <a:rPr lang="en-US" dirty="0">
                <a:latin typeface="Trebuchet MS" panose="020B0603020202020204" pitchFamily="34" charset="0"/>
              </a:rPr>
              <a:t>Which customer segments are most likely to churn?</a:t>
            </a:r>
          </a:p>
          <a:p>
            <a:pPr lvl="0"/>
            <a:r>
              <a:rPr lang="en-US" dirty="0">
                <a:latin typeface="Trebuchet MS" panose="020B0603020202020204" pitchFamily="34" charset="0"/>
              </a:rPr>
              <a:t>Which business factors influence churn?</a:t>
            </a:r>
          </a:p>
          <a:p>
            <a:pPr lvl="0"/>
            <a:r>
              <a:rPr lang="en-US" dirty="0">
                <a:latin typeface="Trebuchet MS" panose="020B0603020202020204" pitchFamily="34" charset="0"/>
              </a:rPr>
              <a:t>How can retention be improved?</a:t>
            </a:r>
          </a:p>
          <a:p>
            <a:pPr marL="0" indent="0" algn="ctr">
              <a:buNone/>
            </a:pPr>
            <a:r>
              <a:rPr lang="en-US" sz="2600" b="1" u="sng" dirty="0">
                <a:latin typeface="Trebuchet MS" panose="020B0603020202020204" pitchFamily="34" charset="0"/>
              </a:rPr>
              <a:t>Project Goal</a:t>
            </a:r>
            <a:endParaRPr lang="en-US" sz="2600" u="sng" dirty="0">
              <a:latin typeface="Trebuchet MS" panose="020B0603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Trebuchet MS" panose="020B0603020202020204" pitchFamily="34" charset="0"/>
              </a:rPr>
              <a:t>Use customer data to identify churn drivers and provide recommendations that support customer retention and business growth.</a:t>
            </a:r>
          </a:p>
          <a:p>
            <a:endParaRPr lang="en-US" dirty="0">
              <a:latin typeface="Trebuchet MS" panose="020B0603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4D57779-7E5D-615F-9BEF-274194AAE9D3}"/>
              </a:ext>
            </a:extLst>
          </p:cNvPr>
          <p:cNvSpPr/>
          <p:nvPr/>
        </p:nvSpPr>
        <p:spPr>
          <a:xfrm>
            <a:off x="9214758" y="2955074"/>
            <a:ext cx="2579914" cy="1416204"/>
          </a:xfrm>
          <a:prstGeom prst="roundRect">
            <a:avLst>
              <a:gd name="adj" fmla="val 8793"/>
            </a:avLst>
          </a:prstGeom>
          <a:solidFill>
            <a:srgbClr val="FAC386">
              <a:alpha val="3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7E95E0-A6A0-4A7F-552E-01EB2384E3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615" y="3042020"/>
            <a:ext cx="2362200" cy="1246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827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10837-D694-7194-4EBD-7D4662600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2343" y="126273"/>
            <a:ext cx="8610600" cy="861939"/>
          </a:xfrm>
          <a:solidFill>
            <a:srgbClr val="FAC386">
              <a:alpha val="37000"/>
            </a:srgbClr>
          </a:solidFill>
          <a:ln w="31750">
            <a:gradFill>
              <a:gsLst>
                <a:gs pos="0">
                  <a:schemeClr val="tx1">
                    <a:lumMod val="95000"/>
                    <a:lumOff val="5000"/>
                  </a:schemeClr>
                </a:gs>
                <a:gs pos="69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8100000" scaled="0"/>
            </a:gradFill>
          </a:ln>
        </p:spPr>
        <p:txBody>
          <a:bodyPr/>
          <a:lstStyle/>
          <a:p>
            <a:pPr algn="ctr"/>
            <a:r>
              <a:rPr lang="en-US" b="1" dirty="0">
                <a:latin typeface="Goudy Old Style" panose="02020502050305020303" pitchFamily="18" charset="0"/>
              </a:rPr>
              <a:t>DATASET OVERVIEW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576049-263D-B298-8BEF-41A9F69EA28D}"/>
              </a:ext>
            </a:extLst>
          </p:cNvPr>
          <p:cNvSpPr txBox="1"/>
          <p:nvPr/>
        </p:nvSpPr>
        <p:spPr>
          <a:xfrm>
            <a:off x="100361" y="1194911"/>
            <a:ext cx="11853745" cy="57246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>
                <a:latin typeface="Trebuchet MS" panose="020B0603020202020204" pitchFamily="34" charset="0"/>
              </a:rPr>
              <a:t>Dataset Description</a:t>
            </a:r>
          </a:p>
          <a:p>
            <a:pPr>
              <a:lnSpc>
                <a:spcPct val="150000"/>
              </a:lnSpc>
            </a:pPr>
            <a:endParaRPr lang="en-US" sz="1000" dirty="0">
              <a:latin typeface="Trebuchet MS" panose="020B0603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rebuchet MS" panose="020B0603020202020204" pitchFamily="34" charset="0"/>
              </a:rPr>
              <a:t>The Telco Customer Churn dataset contains customer demographic information, service subscriptions, billing details, and churn status</a:t>
            </a:r>
            <a:r>
              <a:rPr lang="en-US" dirty="0">
                <a:latin typeface="Trebuchet MS" panose="020B0603020202020204" pitchFamily="34" charset="0"/>
              </a:rPr>
              <a:t>.</a:t>
            </a:r>
          </a:p>
          <a:p>
            <a:endParaRPr lang="en-US" sz="900" b="1" u="sng" dirty="0">
              <a:latin typeface="Trebuchet MS" panose="020B0603020202020204" pitchFamily="34" charset="0"/>
            </a:endParaRPr>
          </a:p>
          <a:p>
            <a:pPr algn="ctr"/>
            <a:r>
              <a:rPr lang="en-US" sz="2400" b="1" u="sng" dirty="0">
                <a:latin typeface="Trebuchet MS" panose="020B0603020202020204" pitchFamily="34" charset="0"/>
              </a:rPr>
              <a:t>Dataset Summary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3725090-3976-9F1C-A692-6303DE1802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8646259"/>
              </p:ext>
            </p:extLst>
          </p:nvPr>
        </p:nvGraphicFramePr>
        <p:xfrm>
          <a:off x="512958" y="3622574"/>
          <a:ext cx="4973442" cy="281527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689052">
                  <a:extLst>
                    <a:ext uri="{9D8B030D-6E8A-4147-A177-3AD203B41FA5}">
                      <a16:colId xmlns:a16="http://schemas.microsoft.com/office/drawing/2014/main" val="330784399"/>
                    </a:ext>
                  </a:extLst>
                </a:gridCol>
                <a:gridCol w="2284390">
                  <a:extLst>
                    <a:ext uri="{9D8B030D-6E8A-4147-A177-3AD203B41FA5}">
                      <a16:colId xmlns:a16="http://schemas.microsoft.com/office/drawing/2014/main" val="7511464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KPIs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964598"/>
                  </a:ext>
                </a:extLst>
              </a:tr>
              <a:tr h="489902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rebuchet MS" panose="020B0603020202020204" pitchFamily="34" charset="0"/>
                        </a:rPr>
                        <a:t>Total 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rebuchet MS" panose="020B0603020202020204" pitchFamily="34" charset="0"/>
                        </a:rPr>
                        <a:t>7,043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8332750"/>
                  </a:ext>
                </a:extLst>
              </a:tr>
              <a:tr h="489902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rebuchet MS" panose="020B0603020202020204" pitchFamily="34" charset="0"/>
                        </a:rPr>
                        <a:t>Total 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rebuchet MS" panose="020B0603020202020204" pitchFamily="34" charset="0"/>
                        </a:rPr>
                        <a:t>7,043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286713"/>
                  </a:ext>
                </a:extLst>
              </a:tr>
              <a:tr h="489902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rebuchet MS" panose="020B0603020202020204" pitchFamily="34" charset="0"/>
                        </a:rPr>
                        <a:t>Churned 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rebuchet MS" panose="020B0603020202020204" pitchFamily="34" charset="0"/>
                        </a:rPr>
                        <a:t>1,869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6237960"/>
                  </a:ext>
                </a:extLst>
              </a:tr>
              <a:tr h="489902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rebuchet MS" panose="020B0603020202020204" pitchFamily="34" charset="0"/>
                        </a:rPr>
                        <a:t>Active 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rebuchet MS" panose="020B0603020202020204" pitchFamily="34" charset="0"/>
                        </a:rPr>
                        <a:t>5,174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9132205"/>
                  </a:ext>
                </a:extLst>
              </a:tr>
              <a:tr h="489902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rebuchet MS" panose="020B0603020202020204" pitchFamily="34" charset="0"/>
                        </a:rPr>
                        <a:t>Churn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rebuchet MS" panose="020B0603020202020204" pitchFamily="34" charset="0"/>
                        </a:rPr>
                        <a:t>26.54%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7425636"/>
                  </a:ext>
                </a:extLst>
              </a:tr>
            </a:tbl>
          </a:graphicData>
        </a:graphic>
      </p:graphicFrame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CFA57C9-78F9-223B-52C4-307C977C9A3F}"/>
              </a:ext>
            </a:extLst>
          </p:cNvPr>
          <p:cNvSpPr/>
          <p:nvPr/>
        </p:nvSpPr>
        <p:spPr>
          <a:xfrm>
            <a:off x="6705602" y="3847171"/>
            <a:ext cx="4884234" cy="2118732"/>
          </a:xfrm>
          <a:prstGeom prst="roundRect">
            <a:avLst>
              <a:gd name="adj" fmla="val 5898"/>
            </a:avLst>
          </a:prstGeom>
          <a:solidFill>
            <a:srgbClr val="FAC386">
              <a:alpha val="3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32E6A38-9AA3-DAE6-1ACE-77081D7565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0900" y="3978557"/>
            <a:ext cx="4753638" cy="187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007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48A82-2DE9-F527-7F00-B05FCAB9F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583F2-9409-5E4D-EBF4-150D4D1F4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103971"/>
            <a:ext cx="8610600" cy="861939"/>
          </a:xfrm>
          <a:solidFill>
            <a:srgbClr val="FAC386">
              <a:alpha val="37000"/>
            </a:srgbClr>
          </a:solidFill>
          <a:ln w="31750">
            <a:gradFill>
              <a:gsLst>
                <a:gs pos="0">
                  <a:schemeClr val="tx1">
                    <a:lumMod val="95000"/>
                    <a:lumOff val="5000"/>
                  </a:schemeClr>
                </a:gs>
                <a:gs pos="69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8100000" scaled="0"/>
            </a:gradFill>
          </a:ln>
        </p:spPr>
        <p:txBody>
          <a:bodyPr/>
          <a:lstStyle/>
          <a:p>
            <a:pPr algn="ctr"/>
            <a:r>
              <a:rPr lang="en-US" b="1" dirty="0">
                <a:latin typeface="Goudy Old Style" panose="02020502050305020303" pitchFamily="18" charset="0"/>
              </a:rPr>
              <a:t>DATASET OVERVIEW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3ED699-3960-B647-060B-1A0FA24E7C57}"/>
              </a:ext>
            </a:extLst>
          </p:cNvPr>
          <p:cNvSpPr txBox="1"/>
          <p:nvPr/>
        </p:nvSpPr>
        <p:spPr>
          <a:xfrm>
            <a:off x="364273" y="1133356"/>
            <a:ext cx="11463454" cy="57246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latin typeface="Trebuchet MS" panose="020B0603020202020204" pitchFamily="34" charset="0"/>
              </a:rPr>
              <a:t>Key Variables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rebuchet MS" panose="020B0603020202020204" pitchFamily="34" charset="0"/>
              </a:rPr>
              <a:t>Gender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rebuchet MS" panose="020B0603020202020204" pitchFamily="34" charset="0"/>
              </a:rPr>
              <a:t>Senior Citizen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rebuchet MS" panose="020B0603020202020204" pitchFamily="34" charset="0"/>
              </a:rPr>
              <a:t>Partner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rebuchet MS" panose="020B0603020202020204" pitchFamily="34" charset="0"/>
              </a:rPr>
              <a:t>Dependents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rebuchet MS" panose="020B0603020202020204" pitchFamily="34" charset="0"/>
              </a:rPr>
              <a:t>Contract Type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rebuchet MS" panose="020B0603020202020204" pitchFamily="34" charset="0"/>
              </a:rPr>
              <a:t>Internet Service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rebuchet MS" panose="020B0603020202020204" pitchFamily="34" charset="0"/>
              </a:rPr>
              <a:t>Payment Method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rebuchet MS" panose="020B0603020202020204" pitchFamily="34" charset="0"/>
              </a:rPr>
              <a:t>Monthly Charges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rebuchet MS" panose="020B0603020202020204" pitchFamily="34" charset="0"/>
              </a:rPr>
              <a:t>Total Charges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rebuchet MS" panose="020B0603020202020204" pitchFamily="34" charset="0"/>
              </a:rPr>
              <a:t>Tenure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rebuchet MS" panose="020B0603020202020204" pitchFamily="34" charset="0"/>
              </a:rPr>
              <a:t>Churn</a:t>
            </a:r>
          </a:p>
          <a:p>
            <a:pPr lvl="0" algn="ctr"/>
            <a:r>
              <a:rPr lang="en-US" sz="2000" b="1" u="sng" dirty="0">
                <a:latin typeface="Trebuchet MS" panose="020B0603020202020204" pitchFamily="34" charset="0"/>
              </a:rPr>
              <a:t>Data Preparation</a:t>
            </a:r>
          </a:p>
          <a:p>
            <a:pPr lvl="0"/>
            <a:endParaRPr lang="en-US" sz="2000" b="1" dirty="0">
              <a:latin typeface="Trebuchet MS" panose="020B0603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rebuchet MS" panose="020B0603020202020204" pitchFamily="34" charset="0"/>
              </a:rPr>
              <a:t>Checked data quality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rebuchet MS" panose="020B0603020202020204" pitchFamily="34" charset="0"/>
              </a:rPr>
              <a:t>Created tenure groups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rebuchet MS" panose="020B0603020202020204" pitchFamily="34" charset="0"/>
              </a:rPr>
              <a:t>Created monthly charge bins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rebuchet MS" panose="020B0603020202020204" pitchFamily="34" charset="0"/>
              </a:rPr>
              <a:t>Developed churn measures using DAX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rebuchet MS" panose="020B0603020202020204" pitchFamily="34" charset="0"/>
              </a:rPr>
              <a:t>Created correlation heatmap</a:t>
            </a:r>
          </a:p>
          <a:p>
            <a:pPr lvl="0"/>
            <a:endParaRPr lang="en-US" b="1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38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412B3-72E5-1C0B-0BFB-290DBA827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CCE77-BB58-2A96-5F8B-8C45E739C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103971"/>
            <a:ext cx="8610600" cy="861939"/>
          </a:xfrm>
          <a:solidFill>
            <a:srgbClr val="FAC386">
              <a:alpha val="37000"/>
            </a:srgbClr>
          </a:solidFill>
          <a:ln w="31750">
            <a:gradFill>
              <a:gsLst>
                <a:gs pos="0">
                  <a:schemeClr val="tx1">
                    <a:lumMod val="95000"/>
                    <a:lumOff val="5000"/>
                  </a:schemeClr>
                </a:gs>
                <a:gs pos="69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8100000" scaled="0"/>
            </a:gradFill>
          </a:ln>
        </p:spPr>
        <p:txBody>
          <a:bodyPr/>
          <a:lstStyle/>
          <a:p>
            <a:pPr algn="ctr"/>
            <a:r>
              <a:rPr lang="en-US" b="1" dirty="0">
                <a:latin typeface="Goudy Old Style" panose="02020502050305020303" pitchFamily="18" charset="0"/>
              </a:rPr>
              <a:t>EXECUTIVE OVERVIEW FINDINGS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E5AC5E-2F02-93EE-5D7C-A3334174D451}"/>
              </a:ext>
            </a:extLst>
          </p:cNvPr>
          <p:cNvSpPr txBox="1"/>
          <p:nvPr/>
        </p:nvSpPr>
        <p:spPr>
          <a:xfrm>
            <a:off x="122663" y="1133356"/>
            <a:ext cx="11809142" cy="566308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/>
            <a:r>
              <a:rPr lang="en-US" sz="2000" b="1" u="sng" dirty="0">
                <a:latin typeface="Trebuchet MS" panose="020B0603020202020204" pitchFamily="34" charset="0"/>
              </a:rPr>
              <a:t>Overall Churn Performance</a:t>
            </a:r>
          </a:p>
          <a:p>
            <a:pPr lvl="0" algn="ctr"/>
            <a:endParaRPr lang="en-US" sz="2000" b="1" u="sng" dirty="0">
              <a:latin typeface="Trebuchet MS" panose="020B0603020202020204" pitchFamily="34" charset="0"/>
            </a:endParaRPr>
          </a:p>
          <a:p>
            <a:pPr lvl="0"/>
            <a:endParaRPr lang="en-US" sz="2000" b="1" u="sng" dirty="0">
              <a:latin typeface="Trebuchet MS" panose="020B0603020202020204" pitchFamily="34" charset="0"/>
            </a:endParaRPr>
          </a:p>
          <a:p>
            <a:pPr lvl="0" algn="ctr"/>
            <a:endParaRPr lang="en-US" sz="2000" b="1" u="sng" dirty="0">
              <a:latin typeface="Trebuchet MS" panose="020B0603020202020204" pitchFamily="34" charset="0"/>
            </a:endParaRPr>
          </a:p>
          <a:p>
            <a:pPr lvl="0" algn="ctr"/>
            <a:endParaRPr lang="en-US" sz="2000" b="1" u="sng" dirty="0">
              <a:latin typeface="Trebuchet MS" panose="020B0603020202020204" pitchFamily="34" charset="0"/>
            </a:endParaRPr>
          </a:p>
          <a:p>
            <a:pPr lvl="0" algn="ctr"/>
            <a:endParaRPr lang="en-US" sz="2000" b="1" u="sng" dirty="0">
              <a:latin typeface="Trebuchet MS" panose="020B0603020202020204" pitchFamily="34" charset="0"/>
            </a:endParaRPr>
          </a:p>
          <a:p>
            <a:pPr lvl="0" algn="ctr"/>
            <a:endParaRPr lang="en-US" sz="2000" b="1" u="sng" dirty="0">
              <a:latin typeface="Trebuchet MS" panose="020B0603020202020204" pitchFamily="34" charset="0"/>
            </a:endParaRPr>
          </a:p>
          <a:p>
            <a:pPr lvl="0" algn="ctr"/>
            <a:endParaRPr lang="en-US" sz="2000" b="1" u="sng" dirty="0">
              <a:latin typeface="Trebuchet MS" panose="020B0603020202020204" pitchFamily="34" charset="0"/>
            </a:endParaRPr>
          </a:p>
          <a:p>
            <a:pPr lvl="0"/>
            <a:endParaRPr lang="en-US" b="1" dirty="0">
              <a:latin typeface="Trebuchet MS" panose="020B0603020202020204" pitchFamily="34" charset="0"/>
            </a:endParaRPr>
          </a:p>
          <a:p>
            <a:pPr lvl="0"/>
            <a:endParaRPr lang="en-US" b="1" dirty="0">
              <a:latin typeface="Trebuchet MS" panose="020B0603020202020204" pitchFamily="34" charset="0"/>
            </a:endParaRPr>
          </a:p>
          <a:p>
            <a:pPr algn="ctr"/>
            <a:endParaRPr lang="en-US" sz="2000" b="1" u="sng" dirty="0">
              <a:latin typeface="Trebuchet MS" panose="020B0603020202020204" pitchFamily="34" charset="0"/>
            </a:endParaRPr>
          </a:p>
          <a:p>
            <a:pPr algn="ctr"/>
            <a:r>
              <a:rPr lang="en-US" sz="2000" b="1" u="sng" dirty="0">
                <a:latin typeface="Trebuchet MS" panose="020B0603020202020204" pitchFamily="34" charset="0"/>
              </a:rPr>
              <a:t>Key Findings</a:t>
            </a:r>
            <a:endParaRPr lang="en-US" sz="2000" u="sng" dirty="0">
              <a:latin typeface="Trebuchet MS" panose="020B060302020202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latin typeface="Trebuchet MS" panose="020B0603020202020204" pitchFamily="34" charset="0"/>
              </a:rPr>
              <a:t>Overall churn rate is 26.54%.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latin typeface="Trebuchet MS" panose="020B0603020202020204" pitchFamily="34" charset="0"/>
              </a:rPr>
              <a:t>Approximately 1 in 4 customers have left the company.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latin typeface="Trebuchet MS" panose="020B0603020202020204" pitchFamily="34" charset="0"/>
              </a:rPr>
              <a:t>Active customers account for the majority of the customer base.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latin typeface="Trebuchet MS" panose="020B0603020202020204" pitchFamily="34" charset="0"/>
              </a:rPr>
              <a:t>Customer retention remains a significant business challenge.</a:t>
            </a:r>
          </a:p>
          <a:p>
            <a:pPr marL="342900" lvl="0" indent="-342900">
              <a:buFont typeface="+mj-lt"/>
              <a:buAutoNum type="arabicPeriod"/>
            </a:pPr>
            <a:endParaRPr lang="en-US" dirty="0">
              <a:latin typeface="Trebuchet MS" panose="020B0603020202020204" pitchFamily="34" charset="0"/>
            </a:endParaRPr>
          </a:p>
          <a:p>
            <a:r>
              <a:rPr lang="en-US" sz="2000" b="1" dirty="0">
                <a:latin typeface="Trebuchet MS" panose="020B0603020202020204" pitchFamily="34" charset="0"/>
              </a:rPr>
              <a:t>BUSINESS IMPLICATION: </a:t>
            </a:r>
            <a:r>
              <a:rPr lang="en-US" dirty="0">
                <a:latin typeface="Trebuchet MS" panose="020B0603020202020204" pitchFamily="34" charset="0"/>
              </a:rPr>
              <a:t>Reducing churn by even a small percentage could generate substantial revenue retention.</a:t>
            </a:r>
            <a:endParaRPr lang="en-US" b="1" dirty="0">
              <a:latin typeface="Trebuchet MS" panose="020B060302020202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7301A88-1D08-DF1C-BF06-F55A945F975F}"/>
              </a:ext>
            </a:extLst>
          </p:cNvPr>
          <p:cNvSpPr/>
          <p:nvPr/>
        </p:nvSpPr>
        <p:spPr>
          <a:xfrm>
            <a:off x="3947531" y="1678257"/>
            <a:ext cx="4081346" cy="2553630"/>
          </a:xfrm>
          <a:prstGeom prst="roundRect">
            <a:avLst>
              <a:gd name="adj" fmla="val 7408"/>
            </a:avLst>
          </a:prstGeom>
          <a:solidFill>
            <a:srgbClr val="FAC386">
              <a:alpha val="3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72FF74-4666-2208-88EC-BC443AA0F3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1517" y="1773807"/>
            <a:ext cx="3753374" cy="236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844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B3EE1-6B10-6A2D-1597-5D770E397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A5D8D-A950-DE02-3706-395B5E323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103972"/>
            <a:ext cx="8610600" cy="670373"/>
          </a:xfrm>
          <a:solidFill>
            <a:srgbClr val="FAC386">
              <a:alpha val="37000"/>
            </a:srgbClr>
          </a:solidFill>
          <a:ln w="31750">
            <a:gradFill>
              <a:gsLst>
                <a:gs pos="0">
                  <a:schemeClr val="tx1">
                    <a:lumMod val="95000"/>
                    <a:lumOff val="5000"/>
                  </a:schemeClr>
                </a:gs>
                <a:gs pos="69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8100000" scaled="0"/>
            </a:gradFill>
          </a:ln>
        </p:spPr>
        <p:txBody>
          <a:bodyPr/>
          <a:lstStyle/>
          <a:p>
            <a:pPr algn="ctr"/>
            <a:r>
              <a:rPr lang="en-US" b="1" dirty="0">
                <a:latin typeface="Goudy Old Style" panose="02020502050305020303" pitchFamily="18" charset="0"/>
              </a:rPr>
              <a:t>CUSTOMER ANALYSIS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C145F1-D66F-3740-00DD-F754540A00C9}"/>
              </a:ext>
            </a:extLst>
          </p:cNvPr>
          <p:cNvSpPr txBox="1"/>
          <p:nvPr/>
        </p:nvSpPr>
        <p:spPr>
          <a:xfrm>
            <a:off x="0" y="917912"/>
            <a:ext cx="12192000" cy="59400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latin typeface="Trebuchet MS" panose="020B0603020202020204" pitchFamily="34" charset="0"/>
              </a:rPr>
              <a:t>Which Customers are leaving?</a:t>
            </a:r>
          </a:p>
          <a:p>
            <a:pPr lvl="0"/>
            <a:endParaRPr lang="en-US" sz="2000" b="1" u="sng" dirty="0">
              <a:latin typeface="Trebuchet MS" panose="020B0603020202020204" pitchFamily="34" charset="0"/>
            </a:endParaRPr>
          </a:p>
          <a:p>
            <a:pPr lvl="0" algn="ctr"/>
            <a:endParaRPr lang="en-US" sz="2000" b="1" u="sng" dirty="0">
              <a:latin typeface="Trebuchet MS" panose="020B0603020202020204" pitchFamily="34" charset="0"/>
            </a:endParaRPr>
          </a:p>
          <a:p>
            <a:pPr lvl="0" algn="ctr"/>
            <a:endParaRPr lang="en-US" sz="2000" b="1" u="sng" dirty="0">
              <a:latin typeface="Trebuchet MS" panose="020B0603020202020204" pitchFamily="34" charset="0"/>
            </a:endParaRPr>
          </a:p>
          <a:p>
            <a:pPr lvl="0" algn="ctr"/>
            <a:endParaRPr lang="en-US" sz="2000" b="1" u="sng" dirty="0">
              <a:latin typeface="Trebuchet MS" panose="020B0603020202020204" pitchFamily="34" charset="0"/>
            </a:endParaRPr>
          </a:p>
          <a:p>
            <a:pPr lvl="0" algn="ctr"/>
            <a:endParaRPr lang="en-US" sz="2000" b="1" u="sng" dirty="0">
              <a:latin typeface="Trebuchet MS" panose="020B0603020202020204" pitchFamily="34" charset="0"/>
            </a:endParaRPr>
          </a:p>
          <a:p>
            <a:pPr lvl="0" algn="ctr"/>
            <a:endParaRPr lang="en-US" sz="2000" b="1" u="sng" dirty="0">
              <a:latin typeface="Trebuchet MS" panose="020B0603020202020204" pitchFamily="34" charset="0"/>
            </a:endParaRPr>
          </a:p>
          <a:p>
            <a:pPr lvl="0" algn="ctr"/>
            <a:endParaRPr lang="en-US" sz="2000" b="1" u="sng" dirty="0">
              <a:latin typeface="Trebuchet MS" panose="020B0603020202020204" pitchFamily="34" charset="0"/>
            </a:endParaRPr>
          </a:p>
          <a:p>
            <a:pPr lvl="0" algn="ctr"/>
            <a:endParaRPr lang="en-US" sz="2000" b="1" u="sng" dirty="0">
              <a:latin typeface="Trebuchet MS" panose="020B0603020202020204" pitchFamily="34" charset="0"/>
            </a:endParaRPr>
          </a:p>
          <a:p>
            <a:pPr lvl="0"/>
            <a:endParaRPr lang="en-US" b="1" dirty="0">
              <a:latin typeface="Trebuchet MS" panose="020B0603020202020204" pitchFamily="34" charset="0"/>
            </a:endParaRPr>
          </a:p>
          <a:p>
            <a:pPr algn="ctr"/>
            <a:r>
              <a:rPr lang="en-US" sz="2000" b="1" u="sng" dirty="0">
                <a:latin typeface="Trebuchet MS" panose="020B0603020202020204" pitchFamily="34" charset="0"/>
              </a:rPr>
              <a:t>Findings</a:t>
            </a:r>
            <a:endParaRPr lang="en-US" sz="2000" u="sng" dirty="0">
              <a:latin typeface="Trebuchet MS" panose="020B0603020202020204" pitchFamily="34" charset="0"/>
            </a:endParaRPr>
          </a:p>
          <a:p>
            <a:r>
              <a:rPr lang="en-US" b="1" u="sng" dirty="0">
                <a:latin typeface="Trebuchet MS" panose="020B0603020202020204" pitchFamily="34" charset="0"/>
              </a:rPr>
              <a:t>Tenure</a:t>
            </a:r>
            <a:endParaRPr lang="en-US" u="sng" dirty="0">
              <a:latin typeface="Trebuchet MS" panose="020B0603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rebuchet MS" panose="020B0603020202020204" pitchFamily="34" charset="0"/>
              </a:rPr>
              <a:t>Customers with shorter tenure exhibit significantly higher churn.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rebuchet MS" panose="020B0603020202020204" pitchFamily="34" charset="0"/>
              </a:rPr>
              <a:t>Long-term customers demonstrate greater loyalty.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>
              <a:latin typeface="Trebuchet MS" panose="020B0603020202020204" pitchFamily="34" charset="0"/>
            </a:endParaRPr>
          </a:p>
          <a:p>
            <a:r>
              <a:rPr lang="en-US" b="1" u="sng" dirty="0">
                <a:latin typeface="Trebuchet MS" panose="020B0603020202020204" pitchFamily="34" charset="0"/>
              </a:rPr>
              <a:t>Monthly Charges: </a:t>
            </a:r>
            <a:r>
              <a:rPr lang="en-US" dirty="0">
                <a:latin typeface="Trebuchet MS" panose="020B0603020202020204" pitchFamily="34" charset="0"/>
              </a:rPr>
              <a:t>Customers paying higher monthly fees are more likely to leave.</a:t>
            </a:r>
          </a:p>
          <a:p>
            <a:endParaRPr lang="en-US" dirty="0">
              <a:latin typeface="Trebuchet MS" panose="020B0603020202020204" pitchFamily="34" charset="0"/>
            </a:endParaRPr>
          </a:p>
          <a:p>
            <a:r>
              <a:rPr lang="en-US" b="1" u="sng" dirty="0">
                <a:latin typeface="Trebuchet MS" panose="020B0603020202020204" pitchFamily="34" charset="0"/>
              </a:rPr>
              <a:t>Senior Citizens: </a:t>
            </a:r>
            <a:r>
              <a:rPr lang="en-US" dirty="0">
                <a:latin typeface="Trebuchet MS" panose="020B0603020202020204" pitchFamily="34" charset="0"/>
              </a:rPr>
              <a:t>Senior citizens show slightly higher churn rates compared to non-senior customers.</a:t>
            </a:r>
          </a:p>
          <a:p>
            <a:endParaRPr lang="en-US" b="1" dirty="0">
              <a:latin typeface="Trebuchet MS" panose="020B0603020202020204" pitchFamily="34" charset="0"/>
            </a:endParaRPr>
          </a:p>
          <a:p>
            <a:r>
              <a:rPr lang="en-US" b="1" dirty="0">
                <a:latin typeface="Trebuchet MS" panose="020B0603020202020204" pitchFamily="34" charset="0"/>
              </a:rPr>
              <a:t>BUSINESS IMPLICATION: </a:t>
            </a:r>
            <a:r>
              <a:rPr lang="en-US" dirty="0">
                <a:latin typeface="Trebuchet MS" panose="020B0603020202020204" pitchFamily="34" charset="0"/>
              </a:rPr>
              <a:t>New customers and high-charge customers require proactive retention strategies.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27193D6-7FA3-FC4B-7E0A-C7C6B2F8F72B}"/>
              </a:ext>
            </a:extLst>
          </p:cNvPr>
          <p:cNvSpPr/>
          <p:nvPr/>
        </p:nvSpPr>
        <p:spPr>
          <a:xfrm>
            <a:off x="137531" y="1468141"/>
            <a:ext cx="4356409" cy="2403088"/>
          </a:xfrm>
          <a:prstGeom prst="roundRect">
            <a:avLst>
              <a:gd name="adj" fmla="val 12027"/>
            </a:avLst>
          </a:prstGeom>
          <a:solidFill>
            <a:srgbClr val="FAC386">
              <a:alpha val="3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D0D2A1-59B5-BAF1-BE1F-D1038B05E4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860" y="1542109"/>
            <a:ext cx="4141749" cy="2255147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84CA6A1-B2DA-63F8-6346-A445538C1279}"/>
              </a:ext>
            </a:extLst>
          </p:cNvPr>
          <p:cNvSpPr/>
          <p:nvPr/>
        </p:nvSpPr>
        <p:spPr>
          <a:xfrm>
            <a:off x="4765285" y="1468140"/>
            <a:ext cx="3498696" cy="2403088"/>
          </a:xfrm>
          <a:prstGeom prst="roundRect">
            <a:avLst>
              <a:gd name="adj" fmla="val 8778"/>
            </a:avLst>
          </a:prstGeom>
          <a:solidFill>
            <a:srgbClr val="FAC386">
              <a:alpha val="3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E43AD2B-1523-D77D-A466-0DD8FC409E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3058" y="1542111"/>
            <a:ext cx="3236181" cy="2255148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B498333-4516-D960-A756-2108C0C31D4E}"/>
              </a:ext>
            </a:extLst>
          </p:cNvPr>
          <p:cNvSpPr/>
          <p:nvPr/>
        </p:nvSpPr>
        <p:spPr>
          <a:xfrm>
            <a:off x="8519532" y="1468140"/>
            <a:ext cx="3498696" cy="2403088"/>
          </a:xfrm>
          <a:prstGeom prst="roundRect">
            <a:avLst>
              <a:gd name="adj" fmla="val 8778"/>
            </a:avLst>
          </a:prstGeom>
          <a:solidFill>
            <a:srgbClr val="FAC386">
              <a:alpha val="3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590087-3BD4-9C45-6802-CDA649EA78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8015" y="1542109"/>
            <a:ext cx="3309125" cy="225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32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5637A-DBC5-BAF4-ADFC-3A0892A40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811CE-DC08-8F4C-A32F-D4028F731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103973"/>
            <a:ext cx="8610600" cy="576252"/>
          </a:xfrm>
          <a:solidFill>
            <a:srgbClr val="FAC386">
              <a:alpha val="37000"/>
            </a:srgbClr>
          </a:solidFill>
          <a:ln w="31750">
            <a:gradFill>
              <a:gsLst>
                <a:gs pos="0">
                  <a:schemeClr val="tx1">
                    <a:lumMod val="95000"/>
                    <a:lumOff val="5000"/>
                  </a:schemeClr>
                </a:gs>
                <a:gs pos="69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8100000" scaled="0"/>
            </a:gradFill>
          </a:ln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Goudy Old Style" panose="02020502050305020303" pitchFamily="18" charset="0"/>
              </a:rPr>
              <a:t>SERVICE AND CONTRACT ANALYSIS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457F2E-FF73-32D5-47EC-A5D76768ECE6}"/>
              </a:ext>
            </a:extLst>
          </p:cNvPr>
          <p:cNvSpPr txBox="1"/>
          <p:nvPr/>
        </p:nvSpPr>
        <p:spPr>
          <a:xfrm>
            <a:off x="0" y="840968"/>
            <a:ext cx="12192000" cy="632480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latin typeface="Trebuchet MS" panose="020B0603020202020204" pitchFamily="34" charset="0"/>
              </a:rPr>
              <a:t>Which Customers are leaving?</a:t>
            </a:r>
          </a:p>
          <a:p>
            <a:pPr lvl="0"/>
            <a:endParaRPr lang="en-US" sz="2000" b="1" u="sng" dirty="0">
              <a:latin typeface="Trebuchet MS" panose="020B0603020202020204" pitchFamily="34" charset="0"/>
            </a:endParaRPr>
          </a:p>
          <a:p>
            <a:pPr lvl="0" algn="ctr"/>
            <a:endParaRPr lang="en-US" sz="2000" b="1" u="sng" dirty="0">
              <a:latin typeface="Trebuchet MS" panose="020B0603020202020204" pitchFamily="34" charset="0"/>
            </a:endParaRPr>
          </a:p>
          <a:p>
            <a:pPr lvl="0" algn="ctr"/>
            <a:endParaRPr lang="en-US" sz="2000" b="1" u="sng" dirty="0">
              <a:latin typeface="Trebuchet MS" panose="020B0603020202020204" pitchFamily="34" charset="0"/>
            </a:endParaRPr>
          </a:p>
          <a:p>
            <a:pPr lvl="0" algn="ctr"/>
            <a:endParaRPr lang="en-US" sz="2000" b="1" u="sng" dirty="0">
              <a:latin typeface="Trebuchet MS" panose="020B0603020202020204" pitchFamily="34" charset="0"/>
            </a:endParaRPr>
          </a:p>
          <a:p>
            <a:pPr lvl="0" algn="ctr"/>
            <a:endParaRPr lang="en-US" sz="2000" b="1" u="sng" dirty="0">
              <a:latin typeface="Trebuchet MS" panose="020B0603020202020204" pitchFamily="34" charset="0"/>
            </a:endParaRPr>
          </a:p>
          <a:p>
            <a:pPr lvl="0" algn="ctr"/>
            <a:endParaRPr lang="en-US" sz="2000" b="1" u="sng" dirty="0">
              <a:latin typeface="Trebuchet MS" panose="020B0603020202020204" pitchFamily="34" charset="0"/>
            </a:endParaRPr>
          </a:p>
          <a:p>
            <a:pPr lvl="0" algn="ctr"/>
            <a:endParaRPr lang="en-US" sz="2000" b="1" u="sng" dirty="0">
              <a:latin typeface="Trebuchet MS" panose="020B0603020202020204" pitchFamily="34" charset="0"/>
            </a:endParaRPr>
          </a:p>
          <a:p>
            <a:pPr lvl="0" algn="ctr"/>
            <a:endParaRPr lang="en-US" sz="2000" b="1" u="sng" dirty="0">
              <a:latin typeface="Trebuchet MS" panose="020B0603020202020204" pitchFamily="34" charset="0"/>
            </a:endParaRPr>
          </a:p>
          <a:p>
            <a:pPr lvl="0"/>
            <a:endParaRPr lang="en-US" b="1" dirty="0">
              <a:latin typeface="Trebuchet MS" panose="020B0603020202020204" pitchFamily="34" charset="0"/>
            </a:endParaRPr>
          </a:p>
          <a:p>
            <a:pPr algn="ctr"/>
            <a:r>
              <a:rPr lang="en-US" sz="2000" b="1" u="sng" dirty="0">
                <a:latin typeface="Trebuchet MS" panose="020B0603020202020204" pitchFamily="34" charset="0"/>
              </a:rPr>
              <a:t>Findings</a:t>
            </a:r>
            <a:endParaRPr lang="en-US" sz="2000" u="sng" dirty="0">
              <a:latin typeface="Trebuchet MS" panose="020B0603020202020204" pitchFamily="34" charset="0"/>
            </a:endParaRPr>
          </a:p>
          <a:p>
            <a:r>
              <a:rPr lang="en-US" b="1" u="sng" dirty="0">
                <a:latin typeface="Trebuchet MS" panose="020B0603020202020204" pitchFamily="34" charset="0"/>
              </a:rPr>
              <a:t>Contract Type</a:t>
            </a:r>
            <a:endParaRPr lang="en-US" u="sng" dirty="0">
              <a:latin typeface="Trebuchet MS" panose="020B0603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rebuchet MS" panose="020B0603020202020204" pitchFamily="34" charset="0"/>
              </a:rPr>
              <a:t>Month-to-Month contracts have the highest churn rate.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rebuchet MS" panose="020B0603020202020204" pitchFamily="34" charset="0"/>
              </a:rPr>
              <a:t>Two-Year contracts have the lowest churn rate.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>
              <a:latin typeface="Trebuchet MS" panose="020B0603020202020204" pitchFamily="34" charset="0"/>
            </a:endParaRPr>
          </a:p>
          <a:p>
            <a:r>
              <a:rPr lang="en-US" b="1" u="sng" dirty="0">
                <a:latin typeface="Trebuchet MS" panose="020B0603020202020204" pitchFamily="34" charset="0"/>
              </a:rPr>
              <a:t>Internet Service</a:t>
            </a:r>
            <a:endParaRPr lang="en-US" u="sng" dirty="0">
              <a:latin typeface="Trebuchet MS" panose="020B0603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rebuchet MS" panose="020B0603020202020204" pitchFamily="34" charset="0"/>
              </a:rPr>
              <a:t>Fiber Optic customers experience the highest churn.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rebuchet MS" panose="020B0603020202020204" pitchFamily="34" charset="0"/>
              </a:rPr>
              <a:t>DSL and No Internet customers demonstrate stronger retention.</a:t>
            </a:r>
          </a:p>
          <a:p>
            <a:pPr lvl="0"/>
            <a:endParaRPr lang="en-US" sz="800" dirty="0">
              <a:latin typeface="Trebuchet MS" panose="020B0603020202020204" pitchFamily="34" charset="0"/>
            </a:endParaRPr>
          </a:p>
          <a:p>
            <a:endParaRPr lang="en-US" sz="700" dirty="0">
              <a:latin typeface="Trebuchet MS" panose="020B0603020202020204" pitchFamily="34" charset="0"/>
            </a:endParaRPr>
          </a:p>
          <a:p>
            <a:r>
              <a:rPr lang="en-US" b="1" dirty="0">
                <a:latin typeface="Trebuchet MS" panose="020B0603020202020204" pitchFamily="34" charset="0"/>
              </a:rPr>
              <a:t>BUSINESS IMPLICATIONS: </a:t>
            </a:r>
            <a:r>
              <a:rPr lang="en-US" dirty="0">
                <a:latin typeface="Trebuchet MS" panose="020B0603020202020204" pitchFamily="34" charset="0"/>
              </a:rPr>
              <a:t>Contract commitment and service experience strongly influence customer retention.</a:t>
            </a:r>
          </a:p>
          <a:p>
            <a:pPr algn="ctr"/>
            <a:r>
              <a:rPr lang="en-US" dirty="0">
                <a:latin typeface="Trebuchet MS" panose="020B0603020202020204" pitchFamily="34" charset="0"/>
              </a:rPr>
              <a:t>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1E63B59-6D17-4C0A-497D-7304345906DE}"/>
              </a:ext>
            </a:extLst>
          </p:cNvPr>
          <p:cNvSpPr/>
          <p:nvPr/>
        </p:nvSpPr>
        <p:spPr>
          <a:xfrm>
            <a:off x="153325" y="1323175"/>
            <a:ext cx="5078925" cy="2403088"/>
          </a:xfrm>
          <a:prstGeom prst="roundRect">
            <a:avLst>
              <a:gd name="adj" fmla="val 7851"/>
            </a:avLst>
          </a:prstGeom>
          <a:solidFill>
            <a:srgbClr val="FAC386">
              <a:alpha val="3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16544F5-71F9-316A-5507-120C21C96B9A}"/>
              </a:ext>
            </a:extLst>
          </p:cNvPr>
          <p:cNvSpPr/>
          <p:nvPr/>
        </p:nvSpPr>
        <p:spPr>
          <a:xfrm>
            <a:off x="6739662" y="1323175"/>
            <a:ext cx="4801850" cy="2403088"/>
          </a:xfrm>
          <a:prstGeom prst="roundRect">
            <a:avLst>
              <a:gd name="adj" fmla="val 8778"/>
            </a:avLst>
          </a:prstGeom>
          <a:solidFill>
            <a:srgbClr val="FAC386">
              <a:alpha val="3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D372C2-A21A-1A21-3EE4-494888748D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775" y="1398668"/>
            <a:ext cx="4896786" cy="22521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E79B5F7-EDD3-22B6-DD72-BB1B5B966C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4587" y="1398668"/>
            <a:ext cx="4572000" cy="225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308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95D67-F553-1C91-5CB7-CA009391D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350FD-DC10-FF6A-453D-E349D0059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103973"/>
            <a:ext cx="8610600" cy="576252"/>
          </a:xfrm>
          <a:solidFill>
            <a:srgbClr val="FAC386">
              <a:alpha val="37000"/>
            </a:srgbClr>
          </a:solidFill>
          <a:ln w="31750">
            <a:gradFill>
              <a:gsLst>
                <a:gs pos="0">
                  <a:schemeClr val="tx1">
                    <a:lumMod val="95000"/>
                    <a:lumOff val="5000"/>
                  </a:schemeClr>
                </a:gs>
                <a:gs pos="69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8100000" scaled="0"/>
            </a:gradFill>
          </a:ln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Goudy Old Style" panose="02020502050305020303" pitchFamily="18" charset="0"/>
              </a:rPr>
              <a:t>CHURN DRIVERS AND CORRELATION ANALYSIS</a:t>
            </a:r>
            <a:endParaRPr 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C8C7E8-1880-EF9E-9FBB-FF7D1D01B444}"/>
              </a:ext>
            </a:extLst>
          </p:cNvPr>
          <p:cNvSpPr txBox="1"/>
          <p:nvPr/>
        </p:nvSpPr>
        <p:spPr>
          <a:xfrm>
            <a:off x="0" y="769435"/>
            <a:ext cx="12192000" cy="87716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latin typeface="Trebuchet MS" panose="020B0603020202020204" pitchFamily="34" charset="0"/>
              </a:rPr>
              <a:t>What Drives Customer Churn?</a:t>
            </a:r>
          </a:p>
          <a:p>
            <a:pPr lvl="0"/>
            <a:endParaRPr lang="en-US" sz="2000" b="1" u="sng" dirty="0">
              <a:latin typeface="Trebuchet MS" panose="020B0603020202020204" pitchFamily="34" charset="0"/>
            </a:endParaRPr>
          </a:p>
          <a:p>
            <a:pPr lvl="0" algn="ctr"/>
            <a:endParaRPr lang="en-US" sz="2000" b="1" u="sng" dirty="0">
              <a:latin typeface="Trebuchet MS" panose="020B0603020202020204" pitchFamily="34" charset="0"/>
            </a:endParaRPr>
          </a:p>
          <a:p>
            <a:pPr lvl="0" algn="ctr"/>
            <a:endParaRPr lang="en-US" sz="2000" b="1" u="sng" dirty="0">
              <a:latin typeface="Trebuchet MS" panose="020B0603020202020204" pitchFamily="34" charset="0"/>
            </a:endParaRPr>
          </a:p>
          <a:p>
            <a:pPr lvl="0" algn="ctr"/>
            <a:endParaRPr lang="en-US" sz="2000" b="1" u="sng" dirty="0">
              <a:latin typeface="Trebuchet MS" panose="020B0603020202020204" pitchFamily="34" charset="0"/>
            </a:endParaRPr>
          </a:p>
          <a:p>
            <a:pPr lvl="0" algn="ctr"/>
            <a:endParaRPr lang="en-US" sz="2000" b="1" u="sng" dirty="0">
              <a:latin typeface="Trebuchet MS" panose="020B0603020202020204" pitchFamily="34" charset="0"/>
            </a:endParaRPr>
          </a:p>
          <a:p>
            <a:pPr lvl="0" algn="ctr"/>
            <a:endParaRPr lang="en-US" sz="2000" b="1" u="sng" dirty="0">
              <a:latin typeface="Trebuchet MS" panose="020B0603020202020204" pitchFamily="34" charset="0"/>
            </a:endParaRPr>
          </a:p>
          <a:p>
            <a:pPr lvl="0" algn="ctr"/>
            <a:endParaRPr lang="en-US" sz="2000" b="1" u="sng" dirty="0">
              <a:latin typeface="Trebuchet MS" panose="020B0603020202020204" pitchFamily="34" charset="0"/>
            </a:endParaRPr>
          </a:p>
          <a:p>
            <a:pPr lvl="0" algn="ctr"/>
            <a:endParaRPr lang="en-US" sz="2000" b="1" u="sng" dirty="0">
              <a:latin typeface="Trebuchet MS" panose="020B0603020202020204" pitchFamily="34" charset="0"/>
            </a:endParaRPr>
          </a:p>
          <a:p>
            <a:pPr algn="ctr"/>
            <a:r>
              <a:rPr lang="en-US" sz="2000" b="1" dirty="0">
                <a:latin typeface="Trebuchet MS" panose="020B0603020202020204" pitchFamily="34" charset="0"/>
              </a:rPr>
              <a:t>                                                                                              </a:t>
            </a:r>
          </a:p>
          <a:p>
            <a:pPr algn="ctr"/>
            <a:r>
              <a:rPr lang="en-US" sz="2000" b="1" dirty="0">
                <a:latin typeface="Trebuchet MS" panose="020B0603020202020204" pitchFamily="34" charset="0"/>
              </a:rPr>
              <a:t>                                                                                                             Correlation Findings     </a:t>
            </a:r>
            <a:endParaRPr lang="en-US" sz="2000" dirty="0">
              <a:latin typeface="Trebuchet MS" panose="020B0603020202020204" pitchFamily="34" charset="0"/>
            </a:endParaRPr>
          </a:p>
          <a:p>
            <a:r>
              <a:rPr lang="en-US" sz="2000" b="1" u="sng" dirty="0">
                <a:latin typeface="Trebuchet MS" panose="020B0603020202020204" pitchFamily="34" charset="0"/>
              </a:rPr>
              <a:t>Key Insights</a:t>
            </a:r>
          </a:p>
          <a:p>
            <a:pPr lvl="0">
              <a:lnSpc>
                <a:spcPct val="150000"/>
              </a:lnSpc>
            </a:pPr>
            <a:r>
              <a:rPr lang="en-US" dirty="0">
                <a:latin typeface="Trebuchet MS" panose="020B0603020202020204" pitchFamily="34" charset="0"/>
              </a:rPr>
              <a:t>Longer-tenure customers are less likely to churn.</a:t>
            </a:r>
          </a:p>
          <a:p>
            <a:pPr lvl="0">
              <a:lnSpc>
                <a:spcPct val="150000"/>
              </a:lnSpc>
            </a:pPr>
            <a:r>
              <a:rPr lang="en-US" dirty="0">
                <a:latin typeface="Trebuchet MS" panose="020B0603020202020204" pitchFamily="34" charset="0"/>
              </a:rPr>
              <a:t>Customers paying higher monthly charges are more likely to leave.</a:t>
            </a:r>
          </a:p>
          <a:p>
            <a:pPr lvl="0">
              <a:lnSpc>
                <a:spcPct val="150000"/>
              </a:lnSpc>
            </a:pPr>
            <a:r>
              <a:rPr lang="en-US" dirty="0">
                <a:latin typeface="Trebuchet MS" panose="020B0603020202020204" pitchFamily="34" charset="0"/>
              </a:rPr>
              <a:t>Customers using Online Security and Tech Support remain loyal.</a:t>
            </a:r>
          </a:p>
          <a:p>
            <a:pPr lvl="0">
              <a:lnSpc>
                <a:spcPct val="150000"/>
              </a:lnSpc>
            </a:pPr>
            <a:r>
              <a:rPr lang="en-US" dirty="0">
                <a:latin typeface="Trebuchet MS" panose="020B0603020202020204" pitchFamily="34" charset="0"/>
              </a:rPr>
              <a:t>Family-oriented customers demonstrate lower churn risk.</a:t>
            </a:r>
          </a:p>
          <a:p>
            <a:endParaRPr lang="en-US" sz="800" b="1" dirty="0">
              <a:latin typeface="Trebuchet MS" panose="020B0603020202020204" pitchFamily="34" charset="0"/>
            </a:endParaRPr>
          </a:p>
          <a:p>
            <a:r>
              <a:rPr lang="en-US" b="1" dirty="0">
                <a:latin typeface="Trebuchet MS" panose="020B0603020202020204" pitchFamily="34" charset="0"/>
              </a:rPr>
              <a:t>BUSINESS IMPLICATIONS</a:t>
            </a:r>
          </a:p>
          <a:p>
            <a:r>
              <a:rPr lang="en-US" dirty="0">
                <a:latin typeface="Trebuchet MS" panose="020B0603020202020204" pitchFamily="34" charset="0"/>
              </a:rPr>
              <a:t>Customer value perception and service engagement are factors.</a:t>
            </a:r>
          </a:p>
          <a:p>
            <a:endParaRPr lang="en-US" dirty="0">
              <a:latin typeface="Trebuchet MS" panose="020B0603020202020204" pitchFamily="34" charset="0"/>
            </a:endParaRPr>
          </a:p>
          <a:p>
            <a:endParaRPr lang="en-US" dirty="0">
              <a:latin typeface="Trebuchet MS" panose="020B0603020202020204" pitchFamily="34" charset="0"/>
            </a:endParaRPr>
          </a:p>
          <a:p>
            <a:endParaRPr lang="en-US" dirty="0">
              <a:latin typeface="Trebuchet MS" panose="020B0603020202020204" pitchFamily="34" charset="0"/>
            </a:endParaRPr>
          </a:p>
          <a:p>
            <a:endParaRPr lang="en-US" dirty="0">
              <a:latin typeface="Trebuchet MS" panose="020B0603020202020204" pitchFamily="34" charset="0"/>
            </a:endParaRPr>
          </a:p>
          <a:p>
            <a:endParaRPr lang="en-US" dirty="0">
              <a:latin typeface="Trebuchet MS" panose="020B0603020202020204" pitchFamily="34" charset="0"/>
            </a:endParaRPr>
          </a:p>
          <a:p>
            <a:endParaRPr lang="en-US" dirty="0">
              <a:latin typeface="Trebuchet MS" panose="020B0603020202020204" pitchFamily="34" charset="0"/>
            </a:endParaRPr>
          </a:p>
          <a:p>
            <a:endParaRPr lang="en-US" dirty="0">
              <a:latin typeface="Trebuchet MS" panose="020B0603020202020204" pitchFamily="34" charset="0"/>
            </a:endParaRPr>
          </a:p>
          <a:p>
            <a:endParaRPr lang="en-US" dirty="0">
              <a:latin typeface="Trebuchet MS" panose="020B0603020202020204" pitchFamily="34" charset="0"/>
            </a:endParaRPr>
          </a:p>
          <a:p>
            <a:pPr algn="ctr"/>
            <a:r>
              <a:rPr lang="en-US" dirty="0">
                <a:latin typeface="Trebuchet MS" panose="020B0603020202020204" pitchFamily="34" charset="0"/>
              </a:rPr>
              <a:t>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360BF24-4E34-4604-640A-69766597DC41}"/>
              </a:ext>
            </a:extLst>
          </p:cNvPr>
          <p:cNvSpPr/>
          <p:nvPr/>
        </p:nvSpPr>
        <p:spPr>
          <a:xfrm>
            <a:off x="153325" y="1323175"/>
            <a:ext cx="11555455" cy="2403088"/>
          </a:xfrm>
          <a:prstGeom prst="roundRect">
            <a:avLst>
              <a:gd name="adj" fmla="val 426"/>
            </a:avLst>
          </a:prstGeom>
          <a:solidFill>
            <a:srgbClr val="FAC386">
              <a:alpha val="3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61B39BB-D964-98A4-F178-EC14D7179D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6187330"/>
              </p:ext>
            </p:extLst>
          </p:nvPr>
        </p:nvGraphicFramePr>
        <p:xfrm>
          <a:off x="7036419" y="4193707"/>
          <a:ext cx="5077522" cy="25603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92613">
                  <a:extLst>
                    <a:ext uri="{9D8B030D-6E8A-4147-A177-3AD203B41FA5}">
                      <a16:colId xmlns:a16="http://schemas.microsoft.com/office/drawing/2014/main" val="644669719"/>
                    </a:ext>
                  </a:extLst>
                </a:gridCol>
                <a:gridCol w="2984909">
                  <a:extLst>
                    <a:ext uri="{9D8B030D-6E8A-4147-A177-3AD203B41FA5}">
                      <a16:colId xmlns:a16="http://schemas.microsoft.com/office/drawing/2014/main" val="1621090835"/>
                    </a:ext>
                  </a:extLst>
                </a:gridCol>
              </a:tblGrid>
              <a:tr h="29970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Relationship with Churn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445036"/>
                  </a:ext>
                </a:extLst>
              </a:tr>
              <a:tr h="362513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rebuchet MS" panose="020B0603020202020204" pitchFamily="34" charset="0"/>
                        </a:rPr>
                        <a:t>Tenure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Strong 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272231"/>
                  </a:ext>
                </a:extLst>
              </a:tr>
              <a:tr h="362513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rebuchet MS" panose="020B0603020202020204" pitchFamily="34" charset="0"/>
                        </a:rPr>
                        <a:t>Monthly Charges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Positive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1855887"/>
                  </a:ext>
                </a:extLst>
              </a:tr>
              <a:tr h="362513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rebuchet MS" panose="020B0603020202020204" pitchFamily="34" charset="0"/>
                        </a:rPr>
                        <a:t>Online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657304"/>
                  </a:ext>
                </a:extLst>
              </a:tr>
              <a:tr h="362513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rebuchet MS" panose="020B0603020202020204" pitchFamily="34" charset="0"/>
                        </a:rPr>
                        <a:t>Tech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665840"/>
                  </a:ext>
                </a:extLst>
              </a:tr>
              <a:tr h="362513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rebuchet MS" panose="020B0603020202020204" pitchFamily="34" charset="0"/>
                        </a:rPr>
                        <a:t>Partner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0752873"/>
                  </a:ext>
                </a:extLst>
              </a:tr>
              <a:tr h="362513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rebuchet MS" panose="020B0603020202020204" pitchFamily="34" charset="0"/>
                        </a:rPr>
                        <a:t>Dependents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4448999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065CD7D4-F312-25FB-0E09-F2A2CD7E1F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139" y="1416205"/>
            <a:ext cx="11298977" cy="220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802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1EB64-4AE4-AA74-2D2A-69BC4D102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D3690-136D-99C6-7895-8BC2F6374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200721"/>
            <a:ext cx="8610600" cy="747133"/>
          </a:xfrm>
          <a:solidFill>
            <a:srgbClr val="FAC386">
              <a:alpha val="37000"/>
            </a:srgbClr>
          </a:solidFill>
          <a:ln w="31750">
            <a:gradFill>
              <a:gsLst>
                <a:gs pos="0">
                  <a:schemeClr val="tx1">
                    <a:lumMod val="95000"/>
                    <a:lumOff val="5000"/>
                  </a:schemeClr>
                </a:gs>
                <a:gs pos="69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8100000" scaled="0"/>
            </a:gradFill>
          </a:ln>
        </p:spPr>
        <p:txBody>
          <a:bodyPr/>
          <a:lstStyle/>
          <a:p>
            <a:pPr algn="ctr"/>
            <a:r>
              <a:rPr lang="en-US" b="1" dirty="0">
                <a:latin typeface="Goudy Old Style" panose="02020502050305020303" pitchFamily="18" charset="0"/>
              </a:rPr>
              <a:t>RECOMMENDATIONS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581D1D-0DDA-DCD4-2720-EDF89F38DB97}"/>
              </a:ext>
            </a:extLst>
          </p:cNvPr>
          <p:cNvSpPr txBox="1"/>
          <p:nvPr/>
        </p:nvSpPr>
        <p:spPr>
          <a:xfrm>
            <a:off x="122663" y="1066448"/>
            <a:ext cx="11697630" cy="62739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rebuchet MS" panose="020B0603020202020204" pitchFamily="34" charset="0"/>
              </a:rPr>
              <a:t>1. Improve New Customer Onboarding</a:t>
            </a:r>
            <a:endParaRPr lang="en-US" dirty="0">
              <a:latin typeface="Trebuchet MS" panose="020B0603020202020204" pitchFamily="34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rebuchet MS" panose="020B0603020202020204" pitchFamily="34" charset="0"/>
              </a:rPr>
              <a:t>Launch retention campaigns during the first year.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rebuchet MS" panose="020B0603020202020204" pitchFamily="34" charset="0"/>
              </a:rPr>
              <a:t>Increase customer engagement after signup.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rebuchet MS" panose="020B0603020202020204" pitchFamily="34" charset="0"/>
              </a:rPr>
              <a:t>2. Encourage Long-Term Contracts</a:t>
            </a:r>
            <a:endParaRPr lang="en-US" dirty="0">
              <a:latin typeface="Trebuchet MS" panose="020B0603020202020204" pitchFamily="34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rebuchet MS" panose="020B0603020202020204" pitchFamily="34" charset="0"/>
              </a:rPr>
              <a:t>Offer discounts for annual plans.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rebuchet MS" panose="020B0603020202020204" pitchFamily="34" charset="0"/>
              </a:rPr>
              <a:t>Introduce loyalty rewards.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rebuchet MS" panose="020B0603020202020204" pitchFamily="34" charset="0"/>
              </a:rPr>
              <a:t>3. Improve Fiber Optic Customer Experience</a:t>
            </a:r>
            <a:endParaRPr lang="en-US" dirty="0">
              <a:latin typeface="Trebuchet MS" panose="020B0603020202020204" pitchFamily="34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rebuchet MS" panose="020B0603020202020204" pitchFamily="34" charset="0"/>
              </a:rPr>
              <a:t>Investigate service quality issues.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rebuchet MS" panose="020B0603020202020204" pitchFamily="34" charset="0"/>
              </a:rPr>
              <a:t>Address pricing concerns.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rebuchet MS" panose="020B0603020202020204" pitchFamily="34" charset="0"/>
              </a:rPr>
              <a:t>4. Promote Value-Added Services</a:t>
            </a:r>
            <a:endParaRPr lang="en-US" dirty="0">
              <a:latin typeface="Trebuchet MS" panose="020B0603020202020204" pitchFamily="34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rebuchet MS" panose="020B0603020202020204" pitchFamily="34" charset="0"/>
              </a:rPr>
              <a:t>Bundle Online Security and Tech Support.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rebuchet MS" panose="020B0603020202020204" pitchFamily="34" charset="0"/>
              </a:rPr>
              <a:t>Increase awareness of service benefits.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rebuchet MS" panose="020B0603020202020204" pitchFamily="34" charset="0"/>
              </a:rPr>
              <a:t>5. Review Pricing Strategies</a:t>
            </a:r>
            <a:endParaRPr lang="en-US" dirty="0">
              <a:latin typeface="Trebuchet MS" panose="020B0603020202020204" pitchFamily="34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rebuchet MS" panose="020B0603020202020204" pitchFamily="34" charset="0"/>
              </a:rPr>
              <a:t>Offer personalized retention incentives for high-charge customers.</a:t>
            </a:r>
          </a:p>
          <a:p>
            <a:pPr lvl="0">
              <a:lnSpc>
                <a:spcPct val="150000"/>
              </a:lnSpc>
            </a:pPr>
            <a:endParaRPr lang="en-US" b="1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842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E86AE-49B2-652D-8FB2-296CD00E5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726E5-CFCF-3E4E-8205-F49FD1679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200721"/>
            <a:ext cx="8610600" cy="747133"/>
          </a:xfrm>
          <a:solidFill>
            <a:srgbClr val="FAC386">
              <a:alpha val="37000"/>
            </a:srgbClr>
          </a:solidFill>
          <a:ln w="31750">
            <a:gradFill>
              <a:gsLst>
                <a:gs pos="0">
                  <a:schemeClr val="tx1">
                    <a:lumMod val="95000"/>
                    <a:lumOff val="5000"/>
                  </a:schemeClr>
                </a:gs>
                <a:gs pos="69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8100000" scaled="0"/>
            </a:gradFill>
          </a:ln>
        </p:spPr>
        <p:txBody>
          <a:bodyPr/>
          <a:lstStyle/>
          <a:p>
            <a:pPr algn="ctr"/>
            <a:r>
              <a:rPr lang="en-US" b="1" dirty="0">
                <a:latin typeface="Goudy Old Style" panose="02020502050305020303" pitchFamily="18" charset="0"/>
              </a:rPr>
              <a:t>CONCLUSION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801BA3-547D-3FFA-9263-B03EC4916EFB}"/>
              </a:ext>
            </a:extLst>
          </p:cNvPr>
          <p:cNvSpPr txBox="1"/>
          <p:nvPr/>
        </p:nvSpPr>
        <p:spPr>
          <a:xfrm>
            <a:off x="100361" y="1367531"/>
            <a:ext cx="11697630" cy="461196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rebuchet MS" panose="020B0603020202020204" pitchFamily="34" charset="0"/>
              </a:rPr>
              <a:t>The analysis reveals that customer churn is primarily influenced by: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rebuchet MS" panose="020B0603020202020204" pitchFamily="34" charset="0"/>
              </a:rPr>
              <a:t>Short customer tenure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rebuchet MS" panose="020B0603020202020204" pitchFamily="34" charset="0"/>
              </a:rPr>
              <a:t>High monthly charges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rebuchet MS" panose="020B0603020202020204" pitchFamily="34" charset="0"/>
              </a:rPr>
              <a:t>Fiber Optic service subscriptions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rebuchet MS" panose="020B0603020202020204" pitchFamily="34" charset="0"/>
              </a:rPr>
              <a:t>Lack of value-added services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Trebuchet MS" panose="020B0603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rebuchet MS" panose="020B0603020202020204" pitchFamily="34" charset="0"/>
              </a:rPr>
              <a:t>By focusing on customer retention programs, contract upgrades, service quality improvements, and customer engagement initiatives, the company can reduce churn and improve long-term profitability.</a:t>
            </a:r>
          </a:p>
          <a:p>
            <a:pPr>
              <a:lnSpc>
                <a:spcPct val="150000"/>
              </a:lnSpc>
            </a:pPr>
            <a:endParaRPr lang="en-US" b="1" dirty="0">
              <a:latin typeface="Trebuchet MS" panose="020B0603020202020204" pitchFamily="34" charset="0"/>
            </a:endParaRPr>
          </a:p>
        </p:txBody>
      </p:sp>
      <p:sp>
        <p:nvSpPr>
          <p:cNvPr id="3" name="Rectangle: Diagonal Corners Rounded 2">
            <a:extLst>
              <a:ext uri="{FF2B5EF4-FFF2-40B4-BE49-F238E27FC236}">
                <a16:creationId xmlns:a16="http://schemas.microsoft.com/office/drawing/2014/main" id="{B625EDB4-4FB2-D881-8507-E970F479FEFA}"/>
              </a:ext>
            </a:extLst>
          </p:cNvPr>
          <p:cNvSpPr/>
          <p:nvPr/>
        </p:nvSpPr>
        <p:spPr>
          <a:xfrm>
            <a:off x="8218448" y="6155473"/>
            <a:ext cx="3839736" cy="567088"/>
          </a:xfrm>
          <a:prstGeom prst="round2DiagRect">
            <a:avLst>
              <a:gd name="adj1" fmla="val 28972"/>
              <a:gd name="adj2" fmla="val 0"/>
            </a:avLst>
          </a:prstGeom>
          <a:solidFill>
            <a:srgbClr val="FAC386">
              <a:alpha val="3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chemeClr val="accent1">
                    <a:lumMod val="50000"/>
                  </a:schemeClr>
                </a:solidFill>
              </a:rPr>
              <a:t>benedictaizegbue6@gmail.com</a:t>
            </a:r>
          </a:p>
        </p:txBody>
      </p:sp>
    </p:spTree>
    <p:extLst>
      <p:ext uri="{BB962C8B-B14F-4D97-AF65-F5344CB8AC3E}">
        <p14:creationId xmlns:p14="http://schemas.microsoft.com/office/powerpoint/2010/main" val="25344923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215</TotalTime>
  <Words>609</Words>
  <Application>Microsoft Office PowerPoint</Application>
  <PresentationFormat>Widescreen</PresentationFormat>
  <Paragraphs>192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Century Schoolbook</vt:lpstr>
      <vt:lpstr>Goudy Old Style</vt:lpstr>
      <vt:lpstr>Imprint MT Shadow</vt:lpstr>
      <vt:lpstr>Trebuchet MS</vt:lpstr>
      <vt:lpstr>Tw Cen MT</vt:lpstr>
      <vt:lpstr>Circuit</vt:lpstr>
      <vt:lpstr>          Telco Customer Churn Analysis  Business Analytics Case Study  </vt:lpstr>
      <vt:lpstr>Business Problem Statement</vt:lpstr>
      <vt:lpstr>DATASET OVERVIEW</vt:lpstr>
      <vt:lpstr>DATASET OVERVIEW</vt:lpstr>
      <vt:lpstr>EXECUTIVE OVERVIEW FINDINGS</vt:lpstr>
      <vt:lpstr>CUSTOMER ANALYSIS</vt:lpstr>
      <vt:lpstr>SERVICE AND CONTRACT ANALYSIS</vt:lpstr>
      <vt:lpstr>CHURN DRIVERS AND CORRELATION ANALYSIS</vt:lpstr>
      <vt:lpstr>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Benedicta Izegbue</dc:creator>
  <cp:lastModifiedBy>Benedicta Izegbue</cp:lastModifiedBy>
  <cp:revision>26</cp:revision>
  <dcterms:created xsi:type="dcterms:W3CDTF">2026-06-09T16:31:39Z</dcterms:created>
  <dcterms:modified xsi:type="dcterms:W3CDTF">2026-06-10T15:55:26Z</dcterms:modified>
</cp:coreProperties>
</file>